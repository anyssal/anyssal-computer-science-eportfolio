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62" r:id="rId5"/>
    <p:sldId id="259" r:id="rId6"/>
    <p:sldId id="260" r:id="rId7"/>
    <p:sldId id="264" r:id="rId8"/>
    <p:sldId id="263" r:id="rId9"/>
    <p:sldId id="265"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B00CD2E3-9EDD-4F8E-8842-7CA44900901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CE4B3F5-374C-4FDD-8EBE-84E58B1A514B}">
      <dgm:prSet/>
      <dgm:spPr/>
      <dgm:t>
        <a:bodyPr/>
        <a:lstStyle/>
        <a:p>
          <a:pPr>
            <a:lnSpc>
              <a:spcPct val="100000"/>
            </a:lnSpc>
          </a:pPr>
          <a:r>
            <a:rPr lang="en-US" b="0" i="0" dirty="0" err="1"/>
            <a:t>Zhezherau</a:t>
          </a:r>
          <a:r>
            <a:rPr lang="en-US" b="0" i="0" dirty="0"/>
            <a:t>, A. (2022, November 16). </a:t>
          </a:r>
          <a:r>
            <a:rPr lang="en-US" b="0" i="1" dirty="0"/>
            <a:t>The Agile Software Development Life Cycle: Wrike Agile Guide</a:t>
          </a:r>
          <a:r>
            <a:rPr lang="en-US" b="0" i="0" dirty="0"/>
            <a:t>. Versatile &amp; Robust Project Management Software. https://www.wrike.com/agile-guide/agile-development-life-cycle/ </a:t>
          </a:r>
          <a:endParaRPr lang="en-US" dirty="0"/>
        </a:p>
      </dgm:t>
    </dgm:pt>
    <dgm:pt modelId="{8F92CE1F-40C9-42EC-BB0E-C0A182C6DCA9}" type="parTrans" cxnId="{923860E1-1511-44D7-909F-A47716DA7D8C}">
      <dgm:prSet/>
      <dgm:spPr/>
      <dgm:t>
        <a:bodyPr/>
        <a:lstStyle/>
        <a:p>
          <a:endParaRPr lang="en-US"/>
        </a:p>
      </dgm:t>
    </dgm:pt>
    <dgm:pt modelId="{EC7FE188-27AA-48C8-8574-F6A49E2526F4}" type="sibTrans" cxnId="{923860E1-1511-44D7-909F-A47716DA7D8C}">
      <dgm:prSet/>
      <dgm:spPr/>
      <dgm:t>
        <a:bodyPr/>
        <a:lstStyle/>
        <a:p>
          <a:endParaRPr lang="en-US"/>
        </a:p>
      </dgm:t>
    </dgm:pt>
    <dgm:pt modelId="{5B95F0D4-0340-473A-A467-102ABCB0E348}">
      <dgm:prSet/>
      <dgm:spPr/>
      <dgm:t>
        <a:bodyPr/>
        <a:lstStyle/>
        <a:p>
          <a:pPr>
            <a:lnSpc>
              <a:spcPct val="100000"/>
            </a:lnSpc>
          </a:pPr>
          <a:r>
            <a:rPr lang="en-US" b="0" i="0" dirty="0"/>
            <a:t>Atlassian, M. (2025). </a:t>
          </a:r>
          <a:r>
            <a:rPr lang="en-US" b="0" i="1" dirty="0"/>
            <a:t>What is Scrum? [+ how to start]</a:t>
          </a:r>
          <a:r>
            <a:rPr lang="en-US" b="0" i="0" dirty="0"/>
            <a:t>. https://www.atlassian.com/agile/scrum#:~:text=Scrum%20is%20an%20agile%20project,values%2C%20principles%2C%20and%20practices. </a:t>
          </a:r>
          <a:endParaRPr lang="en-US" dirty="0"/>
        </a:p>
      </dgm:t>
    </dgm:pt>
    <dgm:pt modelId="{26E924D9-53C5-4DD0-8401-FCD0AB58FD39}" type="parTrans" cxnId="{0A3ED57F-7D5A-4B23-A437-FF668F77FB5F}">
      <dgm:prSet/>
      <dgm:spPr/>
      <dgm:t>
        <a:bodyPr/>
        <a:lstStyle/>
        <a:p>
          <a:endParaRPr lang="en-US"/>
        </a:p>
      </dgm:t>
    </dgm:pt>
    <dgm:pt modelId="{CEF89693-1357-4C61-8B01-2AD0A0732B1F}" type="sibTrans" cxnId="{0A3ED57F-7D5A-4B23-A437-FF668F77FB5F}">
      <dgm:prSet/>
      <dgm:spPr/>
      <dgm:t>
        <a:bodyPr/>
        <a:lstStyle/>
        <a:p>
          <a:endParaRPr lang="en-US"/>
        </a:p>
      </dgm:t>
    </dgm:pt>
    <dgm:pt modelId="{21CDF9EB-33CB-4837-8E0D-C02A8C0AB82E}">
      <dgm:prSet/>
      <dgm:spPr/>
      <dgm:t>
        <a:bodyPr/>
        <a:lstStyle/>
        <a:p>
          <a:pPr>
            <a:lnSpc>
              <a:spcPct val="100000"/>
            </a:lnSpc>
          </a:pPr>
          <a:r>
            <a:rPr lang="en-US" b="0" i="0" dirty="0"/>
            <a:t>Overeem, B. (2016, April 15). </a:t>
          </a:r>
          <a:r>
            <a:rPr lang="en-US" b="0" i="1" dirty="0"/>
            <a:t>Characteristics of a great scrum team</a:t>
          </a:r>
          <a:r>
            <a:rPr lang="en-US" b="0" i="0" dirty="0"/>
            <a:t>. </a:t>
          </a:r>
          <a:r>
            <a:rPr lang="en-US" b="0" i="0" dirty="0" err="1"/>
            <a:t>InfoQ</a:t>
          </a:r>
          <a:r>
            <a:rPr lang="en-US" b="0" i="0" dirty="0"/>
            <a:t>. https://www.infoq.com/articles/great-scrum-team/ </a:t>
          </a:r>
          <a:endParaRPr lang="en-US" dirty="0"/>
        </a:p>
      </dgm:t>
    </dgm:pt>
    <dgm:pt modelId="{4786B97E-AB3A-4AD0-98C4-7ADC74269BA4}" type="parTrans" cxnId="{97FD5C03-FA23-44D7-9929-81FE881A6BA5}">
      <dgm:prSet/>
      <dgm:spPr/>
      <dgm:t>
        <a:bodyPr/>
        <a:lstStyle/>
        <a:p>
          <a:endParaRPr lang="en-US"/>
        </a:p>
      </dgm:t>
    </dgm:pt>
    <dgm:pt modelId="{BDFA919D-3A00-4A14-BF64-D8FF27D9D9C3}" type="sibTrans" cxnId="{97FD5C03-FA23-44D7-9929-81FE881A6BA5}">
      <dgm:prSet/>
      <dgm:spPr/>
      <dgm:t>
        <a:bodyPr/>
        <a:lstStyle/>
        <a:p>
          <a:endParaRPr lang="en-US"/>
        </a:p>
      </dgm:t>
    </dgm:pt>
    <dgm:pt modelId="{E9A84EE0-DD18-4C4A-B84F-C39B1159CFA0}">
      <dgm:prSet/>
      <dgm:spPr/>
      <dgm:t>
        <a:bodyPr/>
        <a:lstStyle/>
        <a:p>
          <a:pPr>
            <a:lnSpc>
              <a:spcPct val="100000"/>
            </a:lnSpc>
          </a:pPr>
          <a:r>
            <a:rPr lang="en-US" b="0" i="0" dirty="0"/>
            <a:t>Cobb, C. G. (2023). </a:t>
          </a:r>
          <a:r>
            <a:rPr lang="en-US" b="0" i="1" dirty="0"/>
            <a:t>The Project Manager’s Guide to Mastering Agile: Principles and practices for an adaptive approach</a:t>
          </a:r>
          <a:r>
            <a:rPr lang="en-US" b="0" i="0" dirty="0"/>
            <a:t>. John Wiley &amp; Sons, Inc. </a:t>
          </a:r>
          <a:endParaRPr lang="en-US" dirty="0"/>
        </a:p>
      </dgm:t>
    </dgm:pt>
    <dgm:pt modelId="{A808B70E-C522-498E-AC31-1681BF594837}" type="parTrans" cxnId="{60D91B83-B584-457A-8887-11C382BFEFF9}">
      <dgm:prSet/>
      <dgm:spPr/>
      <dgm:t>
        <a:bodyPr/>
        <a:lstStyle/>
        <a:p>
          <a:endParaRPr lang="en-US"/>
        </a:p>
      </dgm:t>
    </dgm:pt>
    <dgm:pt modelId="{A9CDEAF0-B121-4EC3-B9D6-8A645FAFF40F}" type="sibTrans" cxnId="{60D91B83-B584-457A-8887-11C382BFEFF9}">
      <dgm:prSet/>
      <dgm:spPr/>
      <dgm:t>
        <a:bodyPr/>
        <a:lstStyle/>
        <a:p>
          <a:endParaRPr lang="en-US"/>
        </a:p>
      </dgm:t>
    </dgm:pt>
    <dgm:pt modelId="{9F3C25F9-A314-42B6-97AE-393289937D3D}">
      <dgm:prSet phldrT="[Text]"/>
      <dgm:spPr/>
      <dgm:t>
        <a:bodyPr/>
        <a:lstStyle/>
        <a:p>
          <a:pPr>
            <a:lnSpc>
              <a:spcPct val="100000"/>
            </a:lnSpc>
            <a:buNone/>
          </a:pPr>
          <a:r>
            <a:rPr lang="en-US" dirty="0" err="1"/>
            <a:t>Gofishdigital</a:t>
          </a:r>
          <a:r>
            <a:rPr lang="en-US" dirty="0"/>
            <a:t>. (2024, July 31). </a:t>
          </a:r>
          <a:r>
            <a:rPr lang="en-US" i="1" dirty="0"/>
            <a:t>Scrum vs. waterfall: Complete guide</a:t>
          </a:r>
          <a:r>
            <a:rPr lang="en-US" dirty="0"/>
            <a:t>. Knack. https://www.knack.com/blog/scrum-vs-waterfall/ </a:t>
          </a:r>
        </a:p>
      </dgm:t>
    </dgm:pt>
    <dgm:pt modelId="{1FCBA5B5-414E-4C07-A6B5-D94DBEC9122E}" type="parTrans" cxnId="{2A6609A9-5779-44C0-A680-B02A3A7D9FAA}">
      <dgm:prSet/>
      <dgm:spPr/>
      <dgm:t>
        <a:bodyPr/>
        <a:lstStyle/>
        <a:p>
          <a:endParaRPr lang="en-US"/>
        </a:p>
      </dgm:t>
    </dgm:pt>
    <dgm:pt modelId="{0D7A88D5-213D-4A05-8100-05F05A2CD50A}" type="sibTrans" cxnId="{2A6609A9-5779-44C0-A680-B02A3A7D9FAA}">
      <dgm:prSet/>
      <dgm:spPr/>
      <dgm:t>
        <a:bodyPr/>
        <a:lstStyle/>
        <a:p>
          <a:endParaRPr lang="en-US"/>
        </a:p>
      </dgm:t>
    </dgm:pt>
    <dgm:pt modelId="{4F9635AB-15AF-4EC2-99FF-C9D016D5CB62}">
      <dgm:prSet phldrT="[Text]"/>
      <dgm:spPr/>
      <dgm:t>
        <a:bodyPr/>
        <a:lstStyle/>
        <a:p>
          <a:pPr>
            <a:lnSpc>
              <a:spcPct val="100000"/>
            </a:lnSpc>
            <a:buNone/>
          </a:pPr>
          <a:r>
            <a:rPr lang="en-US" dirty="0" err="1"/>
            <a:t>Kazinik</a:t>
          </a:r>
          <a:r>
            <a:rPr lang="en-US" dirty="0"/>
            <a:t>, B. (2026, March 8). </a:t>
          </a:r>
          <a:r>
            <a:rPr lang="en-US" i="1" dirty="0"/>
            <a:t>Scrum vs waterfall: Choosing the right methodology in 2026</a:t>
          </a:r>
          <a:r>
            <a:rPr lang="en-US" dirty="0"/>
            <a:t>. monday.com Blog. https://monday.com/blog/rnd/scrum-vs-waterfall/ </a:t>
          </a:r>
        </a:p>
      </dgm:t>
    </dgm:pt>
    <dgm:pt modelId="{9463492C-0413-4CB7-98F4-54BE8A795C60}" type="parTrans" cxnId="{99AE5F30-AC88-4814-8779-7492A13B6238}">
      <dgm:prSet/>
      <dgm:spPr/>
      <dgm:t>
        <a:bodyPr/>
        <a:lstStyle/>
        <a:p>
          <a:endParaRPr lang="en-US"/>
        </a:p>
      </dgm:t>
    </dgm:pt>
    <dgm:pt modelId="{3E7961BF-5A65-4D93-BFED-6916EC445844}" type="sibTrans" cxnId="{99AE5F30-AC88-4814-8779-7492A13B6238}">
      <dgm:prSet/>
      <dgm:spPr/>
      <dgm:t>
        <a:bodyPr/>
        <a:lstStyle/>
        <a:p>
          <a:endParaRPr lang="en-US"/>
        </a:p>
      </dgm:t>
    </dgm:pt>
    <dgm:pt modelId="{8548061E-5D8F-40E2-A8C9-E8620524B391}" type="pres">
      <dgm:prSet presAssocID="{B00CD2E3-9EDD-4F8E-8842-7CA449009012}" presName="root" presStyleCnt="0">
        <dgm:presLayoutVars>
          <dgm:dir/>
          <dgm:resizeHandles val="exact"/>
        </dgm:presLayoutVars>
      </dgm:prSet>
      <dgm:spPr/>
    </dgm:pt>
    <dgm:pt modelId="{A32C31B2-E97F-46D7-A5D1-48623A14C12E}" type="pres">
      <dgm:prSet presAssocID="{4CE4B3F5-374C-4FDD-8EBE-84E58B1A514B}" presName="compNode" presStyleCnt="0"/>
      <dgm:spPr/>
    </dgm:pt>
    <dgm:pt modelId="{68C009F5-2913-4DD3-AB52-266400679981}" type="pres">
      <dgm:prSet presAssocID="{4CE4B3F5-374C-4FDD-8EBE-84E58B1A514B}" presName="bgRect" presStyleLbl="bgShp" presStyleIdx="0" presStyleCnt="6"/>
      <dgm:spPr/>
    </dgm:pt>
    <dgm:pt modelId="{D1B86724-72B3-4AD5-925E-4E638ECFC736}" type="pres">
      <dgm:prSet presAssocID="{4CE4B3F5-374C-4FDD-8EBE-84E58B1A514B}"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rrow Circle"/>
        </a:ext>
      </dgm:extLst>
    </dgm:pt>
    <dgm:pt modelId="{0172F838-639C-424F-BA7B-3E6BF032403D}" type="pres">
      <dgm:prSet presAssocID="{4CE4B3F5-374C-4FDD-8EBE-84E58B1A514B}" presName="spaceRect" presStyleCnt="0"/>
      <dgm:spPr/>
    </dgm:pt>
    <dgm:pt modelId="{F02F3085-87BA-402B-8927-713C98799801}" type="pres">
      <dgm:prSet presAssocID="{4CE4B3F5-374C-4FDD-8EBE-84E58B1A514B}" presName="parTx" presStyleLbl="revTx" presStyleIdx="0" presStyleCnt="6">
        <dgm:presLayoutVars>
          <dgm:chMax val="0"/>
          <dgm:chPref val="0"/>
        </dgm:presLayoutVars>
      </dgm:prSet>
      <dgm:spPr/>
    </dgm:pt>
    <dgm:pt modelId="{6B4336E1-354D-4B5A-9F66-CD1BCDC693E3}" type="pres">
      <dgm:prSet presAssocID="{EC7FE188-27AA-48C8-8574-F6A49E2526F4}" presName="sibTrans" presStyleCnt="0"/>
      <dgm:spPr/>
    </dgm:pt>
    <dgm:pt modelId="{3516E1BF-76B8-4951-8252-427D7F47EA2B}" type="pres">
      <dgm:prSet presAssocID="{5B95F0D4-0340-473A-A467-102ABCB0E348}" presName="compNode" presStyleCnt="0"/>
      <dgm:spPr/>
    </dgm:pt>
    <dgm:pt modelId="{FA5E483C-F15C-40E0-8325-108F8D6708B5}" type="pres">
      <dgm:prSet presAssocID="{5B95F0D4-0340-473A-A467-102ABCB0E348}" presName="bgRect" presStyleLbl="bgShp" presStyleIdx="1" presStyleCnt="6"/>
      <dgm:spPr/>
    </dgm:pt>
    <dgm:pt modelId="{C508C3B9-D67B-46E5-8146-556AB7659561}" type="pres">
      <dgm:prSet presAssocID="{5B95F0D4-0340-473A-A467-102ABCB0E348}"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twork"/>
        </a:ext>
      </dgm:extLst>
    </dgm:pt>
    <dgm:pt modelId="{8671E5D8-1AE4-4DBD-88F7-82AB861B1C26}" type="pres">
      <dgm:prSet presAssocID="{5B95F0D4-0340-473A-A467-102ABCB0E348}" presName="spaceRect" presStyleCnt="0"/>
      <dgm:spPr/>
    </dgm:pt>
    <dgm:pt modelId="{C7CBB300-89CC-48A3-8735-39F2322BC843}" type="pres">
      <dgm:prSet presAssocID="{5B95F0D4-0340-473A-A467-102ABCB0E348}" presName="parTx" presStyleLbl="revTx" presStyleIdx="1" presStyleCnt="6">
        <dgm:presLayoutVars>
          <dgm:chMax val="0"/>
          <dgm:chPref val="0"/>
        </dgm:presLayoutVars>
      </dgm:prSet>
      <dgm:spPr/>
    </dgm:pt>
    <dgm:pt modelId="{D005BD59-04EB-4395-BE96-A61A427FA23E}" type="pres">
      <dgm:prSet presAssocID="{CEF89693-1357-4C61-8B01-2AD0A0732B1F}" presName="sibTrans" presStyleCnt="0"/>
      <dgm:spPr/>
    </dgm:pt>
    <dgm:pt modelId="{EFCC5FC9-B4C6-43C1-B59A-9F8442D0F79E}" type="pres">
      <dgm:prSet presAssocID="{21CDF9EB-33CB-4837-8E0D-C02A8C0AB82E}" presName="compNode" presStyleCnt="0"/>
      <dgm:spPr/>
    </dgm:pt>
    <dgm:pt modelId="{A27DA67D-2582-4F1D-9D0F-112461418F24}" type="pres">
      <dgm:prSet presAssocID="{21CDF9EB-33CB-4837-8E0D-C02A8C0AB82E}" presName="bgRect" presStyleLbl="bgShp" presStyleIdx="2" presStyleCnt="6"/>
      <dgm:spPr/>
    </dgm:pt>
    <dgm:pt modelId="{EFCDBAB0-B465-49F6-A497-BDCFC7B5FDAB}" type="pres">
      <dgm:prSet presAssocID="{21CDF9EB-33CB-4837-8E0D-C02A8C0AB82E}"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Users"/>
        </a:ext>
      </dgm:extLst>
    </dgm:pt>
    <dgm:pt modelId="{AB57CA0F-3A66-49F7-BF9E-CE7193285F20}" type="pres">
      <dgm:prSet presAssocID="{21CDF9EB-33CB-4837-8E0D-C02A8C0AB82E}" presName="spaceRect" presStyleCnt="0"/>
      <dgm:spPr/>
    </dgm:pt>
    <dgm:pt modelId="{821A9EFF-2978-4BFF-9FB8-E2A2DE4727C3}" type="pres">
      <dgm:prSet presAssocID="{21CDF9EB-33CB-4837-8E0D-C02A8C0AB82E}" presName="parTx" presStyleLbl="revTx" presStyleIdx="2" presStyleCnt="6">
        <dgm:presLayoutVars>
          <dgm:chMax val="0"/>
          <dgm:chPref val="0"/>
        </dgm:presLayoutVars>
      </dgm:prSet>
      <dgm:spPr/>
    </dgm:pt>
    <dgm:pt modelId="{3CBB0103-1599-4D0B-930E-9603C85D05E7}" type="pres">
      <dgm:prSet presAssocID="{BDFA919D-3A00-4A14-BF64-D8FF27D9D9C3}" presName="sibTrans" presStyleCnt="0"/>
      <dgm:spPr/>
    </dgm:pt>
    <dgm:pt modelId="{29974039-BDC2-4A83-A7D3-6FEB4D67037F}" type="pres">
      <dgm:prSet presAssocID="{E9A84EE0-DD18-4C4A-B84F-C39B1159CFA0}" presName="compNode" presStyleCnt="0"/>
      <dgm:spPr/>
    </dgm:pt>
    <dgm:pt modelId="{24BD55BD-0C76-4B38-93A7-9963BB88FC57}" type="pres">
      <dgm:prSet presAssocID="{E9A84EE0-DD18-4C4A-B84F-C39B1159CFA0}" presName="bgRect" presStyleLbl="bgShp" presStyleIdx="3" presStyleCnt="6"/>
      <dgm:spPr/>
    </dgm:pt>
    <dgm:pt modelId="{9DFD76E3-C436-4586-98D0-B43A5F9854F1}" type="pres">
      <dgm:prSet presAssocID="{E9A84EE0-DD18-4C4A-B84F-C39B1159CFA0}"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nections"/>
        </a:ext>
      </dgm:extLst>
    </dgm:pt>
    <dgm:pt modelId="{28716380-A91D-4453-A431-7BB0E3B90FE1}" type="pres">
      <dgm:prSet presAssocID="{E9A84EE0-DD18-4C4A-B84F-C39B1159CFA0}" presName="spaceRect" presStyleCnt="0"/>
      <dgm:spPr/>
    </dgm:pt>
    <dgm:pt modelId="{9AA82A5C-FCE4-4783-8B91-AF88FCDC1D79}" type="pres">
      <dgm:prSet presAssocID="{E9A84EE0-DD18-4C4A-B84F-C39B1159CFA0}" presName="parTx" presStyleLbl="revTx" presStyleIdx="3" presStyleCnt="6">
        <dgm:presLayoutVars>
          <dgm:chMax val="0"/>
          <dgm:chPref val="0"/>
        </dgm:presLayoutVars>
      </dgm:prSet>
      <dgm:spPr/>
    </dgm:pt>
    <dgm:pt modelId="{6F4C6395-50CE-4E4D-AF90-002BCA0FAB21}" type="pres">
      <dgm:prSet presAssocID="{A9CDEAF0-B121-4EC3-B9D6-8A645FAFF40F}" presName="sibTrans" presStyleCnt="0"/>
      <dgm:spPr/>
    </dgm:pt>
    <dgm:pt modelId="{0C66FAD6-4003-449C-B29E-7DB89ECA6ECB}" type="pres">
      <dgm:prSet presAssocID="{9F3C25F9-A314-42B6-97AE-393289937D3D}" presName="compNode" presStyleCnt="0"/>
      <dgm:spPr/>
    </dgm:pt>
    <dgm:pt modelId="{B44D0F49-9F14-4857-8416-4EEFE523F311}" type="pres">
      <dgm:prSet presAssocID="{9F3C25F9-A314-42B6-97AE-393289937D3D}" presName="bgRect" presStyleLbl="bgShp" presStyleIdx="4" presStyleCnt="6"/>
      <dgm:spPr/>
    </dgm:pt>
    <dgm:pt modelId="{8E862F71-4A1A-4EC4-B3D2-A4D9804376DB}" type="pres">
      <dgm:prSet presAssocID="{9F3C25F9-A314-42B6-97AE-393289937D3D}" presName="iconRect" presStyleLbl="node1" presStyleIdx="4" presStyleCnt="6"/>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dgm:spPr>
      <dgm:extLst>
        <a:ext uri="{E40237B7-FDA0-4F09-8148-C483321AD2D9}">
          <dgm14:cNvPr xmlns:dgm14="http://schemas.microsoft.com/office/drawing/2010/diagram" id="0" name="" descr="Presentation with checklist with solid fill"/>
        </a:ext>
      </dgm:extLst>
    </dgm:pt>
    <dgm:pt modelId="{DE432DE4-91E4-4E58-BBA6-43E73CF4EA31}" type="pres">
      <dgm:prSet presAssocID="{9F3C25F9-A314-42B6-97AE-393289937D3D}" presName="spaceRect" presStyleCnt="0"/>
      <dgm:spPr/>
    </dgm:pt>
    <dgm:pt modelId="{FB0C2111-5648-49E6-86F2-0CE27E1549FB}" type="pres">
      <dgm:prSet presAssocID="{9F3C25F9-A314-42B6-97AE-393289937D3D}" presName="parTx" presStyleLbl="revTx" presStyleIdx="4" presStyleCnt="6">
        <dgm:presLayoutVars>
          <dgm:chMax val="0"/>
          <dgm:chPref val="0"/>
        </dgm:presLayoutVars>
      </dgm:prSet>
      <dgm:spPr/>
    </dgm:pt>
    <dgm:pt modelId="{D17844A5-E69D-4BB4-AB66-CD8C3EF3F94B}" type="pres">
      <dgm:prSet presAssocID="{0D7A88D5-213D-4A05-8100-05F05A2CD50A}" presName="sibTrans" presStyleCnt="0"/>
      <dgm:spPr/>
    </dgm:pt>
    <dgm:pt modelId="{4D859A76-6246-4B9C-9D03-D2BE4AC40D13}" type="pres">
      <dgm:prSet presAssocID="{4F9635AB-15AF-4EC2-99FF-C9D016D5CB62}" presName="compNode" presStyleCnt="0"/>
      <dgm:spPr/>
    </dgm:pt>
    <dgm:pt modelId="{0C3310C6-FA98-4833-8826-338D75D7CB53}" type="pres">
      <dgm:prSet presAssocID="{4F9635AB-15AF-4EC2-99FF-C9D016D5CB62}" presName="bgRect" presStyleLbl="bgShp" presStyleIdx="5" presStyleCnt="6"/>
      <dgm:spPr/>
    </dgm:pt>
    <dgm:pt modelId="{A50AD892-7240-442F-823A-DB1ADCEBB60B}" type="pres">
      <dgm:prSet presAssocID="{4F9635AB-15AF-4EC2-99FF-C9D016D5CB62}" presName="iconRect" presStyleLbl="node1" presStyleIdx="5" presStyleCnt="6"/>
      <dgm:spPr>
        <a:blipFill>
          <a:blip xmlns:r="http://schemas.openxmlformats.org/officeDocument/2006/relationships">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Hierarchy with solid fill"/>
        </a:ext>
      </dgm:extLst>
    </dgm:pt>
    <dgm:pt modelId="{AFE82ABC-3526-4E44-AC2F-6472F1ED6999}" type="pres">
      <dgm:prSet presAssocID="{4F9635AB-15AF-4EC2-99FF-C9D016D5CB62}" presName="spaceRect" presStyleCnt="0"/>
      <dgm:spPr/>
    </dgm:pt>
    <dgm:pt modelId="{7DD28DBE-6965-468A-AA88-8C24927EA725}" type="pres">
      <dgm:prSet presAssocID="{4F9635AB-15AF-4EC2-99FF-C9D016D5CB62}" presName="parTx" presStyleLbl="revTx" presStyleIdx="5" presStyleCnt="6">
        <dgm:presLayoutVars>
          <dgm:chMax val="0"/>
          <dgm:chPref val="0"/>
        </dgm:presLayoutVars>
      </dgm:prSet>
      <dgm:spPr/>
    </dgm:pt>
  </dgm:ptLst>
  <dgm:cxnLst>
    <dgm:cxn modelId="{97FD5C03-FA23-44D7-9929-81FE881A6BA5}" srcId="{B00CD2E3-9EDD-4F8E-8842-7CA449009012}" destId="{21CDF9EB-33CB-4837-8E0D-C02A8C0AB82E}" srcOrd="2" destOrd="0" parTransId="{4786B97E-AB3A-4AD0-98C4-7ADC74269BA4}" sibTransId="{BDFA919D-3A00-4A14-BF64-D8FF27D9D9C3}"/>
    <dgm:cxn modelId="{99AE5F30-AC88-4814-8779-7492A13B6238}" srcId="{B00CD2E3-9EDD-4F8E-8842-7CA449009012}" destId="{4F9635AB-15AF-4EC2-99FF-C9D016D5CB62}" srcOrd="5" destOrd="0" parTransId="{9463492C-0413-4CB7-98F4-54BE8A795C60}" sibTransId="{3E7961BF-5A65-4D93-BFED-6916EC445844}"/>
    <dgm:cxn modelId="{3086215C-1964-4612-9D34-FD6DB15676D3}" type="presOf" srcId="{4CE4B3F5-374C-4FDD-8EBE-84E58B1A514B}" destId="{F02F3085-87BA-402B-8927-713C98799801}" srcOrd="0" destOrd="0" presId="urn:microsoft.com/office/officeart/2018/2/layout/IconVerticalSolidList"/>
    <dgm:cxn modelId="{B9B4306A-5408-435F-8A4F-25DC5B8D8C7C}" type="presOf" srcId="{21CDF9EB-33CB-4837-8E0D-C02A8C0AB82E}" destId="{821A9EFF-2978-4BFF-9FB8-E2A2DE4727C3}" srcOrd="0" destOrd="0" presId="urn:microsoft.com/office/officeart/2018/2/layout/IconVerticalSolidList"/>
    <dgm:cxn modelId="{5AE94B51-5807-4E59-BD2C-2B0A3E3CEF77}" type="presOf" srcId="{9F3C25F9-A314-42B6-97AE-393289937D3D}" destId="{FB0C2111-5648-49E6-86F2-0CE27E1549FB}" srcOrd="0" destOrd="0" presId="urn:microsoft.com/office/officeart/2018/2/layout/IconVerticalSolidList"/>
    <dgm:cxn modelId="{1303F35A-430E-4651-8904-3E9A073236F7}" type="presOf" srcId="{E9A84EE0-DD18-4C4A-B84F-C39B1159CFA0}" destId="{9AA82A5C-FCE4-4783-8B91-AF88FCDC1D79}" srcOrd="0" destOrd="0" presId="urn:microsoft.com/office/officeart/2018/2/layout/IconVerticalSolidList"/>
    <dgm:cxn modelId="{0A3ED57F-7D5A-4B23-A437-FF668F77FB5F}" srcId="{B00CD2E3-9EDD-4F8E-8842-7CA449009012}" destId="{5B95F0D4-0340-473A-A467-102ABCB0E348}" srcOrd="1" destOrd="0" parTransId="{26E924D9-53C5-4DD0-8401-FCD0AB58FD39}" sibTransId="{CEF89693-1357-4C61-8B01-2AD0A0732B1F}"/>
    <dgm:cxn modelId="{60D91B83-B584-457A-8887-11C382BFEFF9}" srcId="{B00CD2E3-9EDD-4F8E-8842-7CA449009012}" destId="{E9A84EE0-DD18-4C4A-B84F-C39B1159CFA0}" srcOrd="3" destOrd="0" parTransId="{A808B70E-C522-498E-AC31-1681BF594837}" sibTransId="{A9CDEAF0-B121-4EC3-B9D6-8A645FAFF40F}"/>
    <dgm:cxn modelId="{3987168F-9083-47DA-ABAC-B0CFE1086FB2}" type="presOf" srcId="{B00CD2E3-9EDD-4F8E-8842-7CA449009012}" destId="{8548061E-5D8F-40E2-A8C9-E8620524B391}" srcOrd="0" destOrd="0" presId="urn:microsoft.com/office/officeart/2018/2/layout/IconVerticalSolidList"/>
    <dgm:cxn modelId="{2A6609A9-5779-44C0-A680-B02A3A7D9FAA}" srcId="{B00CD2E3-9EDD-4F8E-8842-7CA449009012}" destId="{9F3C25F9-A314-42B6-97AE-393289937D3D}" srcOrd="4" destOrd="0" parTransId="{1FCBA5B5-414E-4C07-A6B5-D94DBEC9122E}" sibTransId="{0D7A88D5-213D-4A05-8100-05F05A2CD50A}"/>
    <dgm:cxn modelId="{ED2E05D0-2140-48E5-8403-939AE570C734}" type="presOf" srcId="{5B95F0D4-0340-473A-A467-102ABCB0E348}" destId="{C7CBB300-89CC-48A3-8735-39F2322BC843}" srcOrd="0" destOrd="0" presId="urn:microsoft.com/office/officeart/2018/2/layout/IconVerticalSolidList"/>
    <dgm:cxn modelId="{923860E1-1511-44D7-909F-A47716DA7D8C}" srcId="{B00CD2E3-9EDD-4F8E-8842-7CA449009012}" destId="{4CE4B3F5-374C-4FDD-8EBE-84E58B1A514B}" srcOrd="0" destOrd="0" parTransId="{8F92CE1F-40C9-42EC-BB0E-C0A182C6DCA9}" sibTransId="{EC7FE188-27AA-48C8-8574-F6A49E2526F4}"/>
    <dgm:cxn modelId="{D27A83FD-5357-4167-AF1F-0801AF3CE41F}" type="presOf" srcId="{4F9635AB-15AF-4EC2-99FF-C9D016D5CB62}" destId="{7DD28DBE-6965-468A-AA88-8C24927EA725}" srcOrd="0" destOrd="0" presId="urn:microsoft.com/office/officeart/2018/2/layout/IconVerticalSolidList"/>
    <dgm:cxn modelId="{0F826792-9F40-44A5-9906-03B41928680A}" type="presParOf" srcId="{8548061E-5D8F-40E2-A8C9-E8620524B391}" destId="{A32C31B2-E97F-46D7-A5D1-48623A14C12E}" srcOrd="0" destOrd="0" presId="urn:microsoft.com/office/officeart/2018/2/layout/IconVerticalSolidList"/>
    <dgm:cxn modelId="{B8477484-73DC-43FF-B30D-61CBBAE8E2D9}" type="presParOf" srcId="{A32C31B2-E97F-46D7-A5D1-48623A14C12E}" destId="{68C009F5-2913-4DD3-AB52-266400679981}" srcOrd="0" destOrd="0" presId="urn:microsoft.com/office/officeart/2018/2/layout/IconVerticalSolidList"/>
    <dgm:cxn modelId="{B0C24C43-5873-441A-9397-F1334E47BA65}" type="presParOf" srcId="{A32C31B2-E97F-46D7-A5D1-48623A14C12E}" destId="{D1B86724-72B3-4AD5-925E-4E638ECFC736}" srcOrd="1" destOrd="0" presId="urn:microsoft.com/office/officeart/2018/2/layout/IconVerticalSolidList"/>
    <dgm:cxn modelId="{83E7FE28-E474-4735-8E5C-F369BDEE8A03}" type="presParOf" srcId="{A32C31B2-E97F-46D7-A5D1-48623A14C12E}" destId="{0172F838-639C-424F-BA7B-3E6BF032403D}" srcOrd="2" destOrd="0" presId="urn:microsoft.com/office/officeart/2018/2/layout/IconVerticalSolidList"/>
    <dgm:cxn modelId="{0B23A6B2-327F-44AB-9692-83C02D7292E1}" type="presParOf" srcId="{A32C31B2-E97F-46D7-A5D1-48623A14C12E}" destId="{F02F3085-87BA-402B-8927-713C98799801}" srcOrd="3" destOrd="0" presId="urn:microsoft.com/office/officeart/2018/2/layout/IconVerticalSolidList"/>
    <dgm:cxn modelId="{7D667027-54F9-444C-A003-BFA41A5D8B92}" type="presParOf" srcId="{8548061E-5D8F-40E2-A8C9-E8620524B391}" destId="{6B4336E1-354D-4B5A-9F66-CD1BCDC693E3}" srcOrd="1" destOrd="0" presId="urn:microsoft.com/office/officeart/2018/2/layout/IconVerticalSolidList"/>
    <dgm:cxn modelId="{3627661F-A337-404C-B5E5-F53C8A6CD31C}" type="presParOf" srcId="{8548061E-5D8F-40E2-A8C9-E8620524B391}" destId="{3516E1BF-76B8-4951-8252-427D7F47EA2B}" srcOrd="2" destOrd="0" presId="urn:microsoft.com/office/officeart/2018/2/layout/IconVerticalSolidList"/>
    <dgm:cxn modelId="{A045AAE7-CA9A-4C04-BB5E-664FAFC8D634}" type="presParOf" srcId="{3516E1BF-76B8-4951-8252-427D7F47EA2B}" destId="{FA5E483C-F15C-40E0-8325-108F8D6708B5}" srcOrd="0" destOrd="0" presId="urn:microsoft.com/office/officeart/2018/2/layout/IconVerticalSolidList"/>
    <dgm:cxn modelId="{2A6BE40E-BC6F-4C5B-8422-693785760061}" type="presParOf" srcId="{3516E1BF-76B8-4951-8252-427D7F47EA2B}" destId="{C508C3B9-D67B-46E5-8146-556AB7659561}" srcOrd="1" destOrd="0" presId="urn:microsoft.com/office/officeart/2018/2/layout/IconVerticalSolidList"/>
    <dgm:cxn modelId="{B5FF0A11-B0F1-493F-8FF9-09014DF50433}" type="presParOf" srcId="{3516E1BF-76B8-4951-8252-427D7F47EA2B}" destId="{8671E5D8-1AE4-4DBD-88F7-82AB861B1C26}" srcOrd="2" destOrd="0" presId="urn:microsoft.com/office/officeart/2018/2/layout/IconVerticalSolidList"/>
    <dgm:cxn modelId="{83EC4F63-7D4C-4356-A8B1-3B35FF35B972}" type="presParOf" srcId="{3516E1BF-76B8-4951-8252-427D7F47EA2B}" destId="{C7CBB300-89CC-48A3-8735-39F2322BC843}" srcOrd="3" destOrd="0" presId="urn:microsoft.com/office/officeart/2018/2/layout/IconVerticalSolidList"/>
    <dgm:cxn modelId="{B29C32AA-9A5C-443D-A117-7E202916C1F3}" type="presParOf" srcId="{8548061E-5D8F-40E2-A8C9-E8620524B391}" destId="{D005BD59-04EB-4395-BE96-A61A427FA23E}" srcOrd="3" destOrd="0" presId="urn:microsoft.com/office/officeart/2018/2/layout/IconVerticalSolidList"/>
    <dgm:cxn modelId="{0577A7DF-4CBE-400D-AC11-D32A8A22C678}" type="presParOf" srcId="{8548061E-5D8F-40E2-A8C9-E8620524B391}" destId="{EFCC5FC9-B4C6-43C1-B59A-9F8442D0F79E}" srcOrd="4" destOrd="0" presId="urn:microsoft.com/office/officeart/2018/2/layout/IconVerticalSolidList"/>
    <dgm:cxn modelId="{E61F5279-A99C-499F-98AA-6E1B5A41F86D}" type="presParOf" srcId="{EFCC5FC9-B4C6-43C1-B59A-9F8442D0F79E}" destId="{A27DA67D-2582-4F1D-9D0F-112461418F24}" srcOrd="0" destOrd="0" presId="urn:microsoft.com/office/officeart/2018/2/layout/IconVerticalSolidList"/>
    <dgm:cxn modelId="{4C29C21B-F63E-4BD9-8CE7-7FE7D9A8E535}" type="presParOf" srcId="{EFCC5FC9-B4C6-43C1-B59A-9F8442D0F79E}" destId="{EFCDBAB0-B465-49F6-A497-BDCFC7B5FDAB}" srcOrd="1" destOrd="0" presId="urn:microsoft.com/office/officeart/2018/2/layout/IconVerticalSolidList"/>
    <dgm:cxn modelId="{94ED0ED6-7366-4DB6-9CFF-DB700C0E64CA}" type="presParOf" srcId="{EFCC5FC9-B4C6-43C1-B59A-9F8442D0F79E}" destId="{AB57CA0F-3A66-49F7-BF9E-CE7193285F20}" srcOrd="2" destOrd="0" presId="urn:microsoft.com/office/officeart/2018/2/layout/IconVerticalSolidList"/>
    <dgm:cxn modelId="{31A0E3E9-4C66-4CED-A691-2C0959388365}" type="presParOf" srcId="{EFCC5FC9-B4C6-43C1-B59A-9F8442D0F79E}" destId="{821A9EFF-2978-4BFF-9FB8-E2A2DE4727C3}" srcOrd="3" destOrd="0" presId="urn:microsoft.com/office/officeart/2018/2/layout/IconVerticalSolidList"/>
    <dgm:cxn modelId="{87573D26-2827-456D-BA74-7A482866C2F0}" type="presParOf" srcId="{8548061E-5D8F-40E2-A8C9-E8620524B391}" destId="{3CBB0103-1599-4D0B-930E-9603C85D05E7}" srcOrd="5" destOrd="0" presId="urn:microsoft.com/office/officeart/2018/2/layout/IconVerticalSolidList"/>
    <dgm:cxn modelId="{6195C2EE-65BE-4805-8F80-19974E72C917}" type="presParOf" srcId="{8548061E-5D8F-40E2-A8C9-E8620524B391}" destId="{29974039-BDC2-4A83-A7D3-6FEB4D67037F}" srcOrd="6" destOrd="0" presId="urn:microsoft.com/office/officeart/2018/2/layout/IconVerticalSolidList"/>
    <dgm:cxn modelId="{43AF9D43-A67A-4C54-8596-6BFAA2451919}" type="presParOf" srcId="{29974039-BDC2-4A83-A7D3-6FEB4D67037F}" destId="{24BD55BD-0C76-4B38-93A7-9963BB88FC57}" srcOrd="0" destOrd="0" presId="urn:microsoft.com/office/officeart/2018/2/layout/IconVerticalSolidList"/>
    <dgm:cxn modelId="{F23128B3-4648-4E25-94E2-29C16B034005}" type="presParOf" srcId="{29974039-BDC2-4A83-A7D3-6FEB4D67037F}" destId="{9DFD76E3-C436-4586-98D0-B43A5F9854F1}" srcOrd="1" destOrd="0" presId="urn:microsoft.com/office/officeart/2018/2/layout/IconVerticalSolidList"/>
    <dgm:cxn modelId="{F296089D-D952-49FC-ABCC-539EFA5B6B10}" type="presParOf" srcId="{29974039-BDC2-4A83-A7D3-6FEB4D67037F}" destId="{28716380-A91D-4453-A431-7BB0E3B90FE1}" srcOrd="2" destOrd="0" presId="urn:microsoft.com/office/officeart/2018/2/layout/IconVerticalSolidList"/>
    <dgm:cxn modelId="{F1951AC5-1808-4FD2-BDC3-79F7CC888399}" type="presParOf" srcId="{29974039-BDC2-4A83-A7D3-6FEB4D67037F}" destId="{9AA82A5C-FCE4-4783-8B91-AF88FCDC1D79}" srcOrd="3" destOrd="0" presId="urn:microsoft.com/office/officeart/2018/2/layout/IconVerticalSolidList"/>
    <dgm:cxn modelId="{5D810040-20DD-45CC-B275-5C0B3C209004}" type="presParOf" srcId="{8548061E-5D8F-40E2-A8C9-E8620524B391}" destId="{6F4C6395-50CE-4E4D-AF90-002BCA0FAB21}" srcOrd="7" destOrd="0" presId="urn:microsoft.com/office/officeart/2018/2/layout/IconVerticalSolidList"/>
    <dgm:cxn modelId="{AE7F447D-4B2F-4E11-9783-2E7ACDCD235C}" type="presParOf" srcId="{8548061E-5D8F-40E2-A8C9-E8620524B391}" destId="{0C66FAD6-4003-449C-B29E-7DB89ECA6ECB}" srcOrd="8" destOrd="0" presId="urn:microsoft.com/office/officeart/2018/2/layout/IconVerticalSolidList"/>
    <dgm:cxn modelId="{141772D8-72AB-4806-8D15-2EF3B8854985}" type="presParOf" srcId="{0C66FAD6-4003-449C-B29E-7DB89ECA6ECB}" destId="{B44D0F49-9F14-4857-8416-4EEFE523F311}" srcOrd="0" destOrd="0" presId="urn:microsoft.com/office/officeart/2018/2/layout/IconVerticalSolidList"/>
    <dgm:cxn modelId="{F1F03324-4606-43EE-8BA5-41734D434C8A}" type="presParOf" srcId="{0C66FAD6-4003-449C-B29E-7DB89ECA6ECB}" destId="{8E862F71-4A1A-4EC4-B3D2-A4D9804376DB}" srcOrd="1" destOrd="0" presId="urn:microsoft.com/office/officeart/2018/2/layout/IconVerticalSolidList"/>
    <dgm:cxn modelId="{69FA7F25-A9A2-4AA8-9F0C-CC5D9FD9C20D}" type="presParOf" srcId="{0C66FAD6-4003-449C-B29E-7DB89ECA6ECB}" destId="{DE432DE4-91E4-4E58-BBA6-43E73CF4EA31}" srcOrd="2" destOrd="0" presId="urn:microsoft.com/office/officeart/2018/2/layout/IconVerticalSolidList"/>
    <dgm:cxn modelId="{17E59722-07B0-481C-A83C-4CD6587FB1F7}" type="presParOf" srcId="{0C66FAD6-4003-449C-B29E-7DB89ECA6ECB}" destId="{FB0C2111-5648-49E6-86F2-0CE27E1549FB}" srcOrd="3" destOrd="0" presId="urn:microsoft.com/office/officeart/2018/2/layout/IconVerticalSolidList"/>
    <dgm:cxn modelId="{A99071B0-2934-46E7-8629-1577C4873F6C}" type="presParOf" srcId="{8548061E-5D8F-40E2-A8C9-E8620524B391}" destId="{D17844A5-E69D-4BB4-AB66-CD8C3EF3F94B}" srcOrd="9" destOrd="0" presId="urn:microsoft.com/office/officeart/2018/2/layout/IconVerticalSolidList"/>
    <dgm:cxn modelId="{05270BEC-4CF7-4A37-89E3-5A0597BD07F5}" type="presParOf" srcId="{8548061E-5D8F-40E2-A8C9-E8620524B391}" destId="{4D859A76-6246-4B9C-9D03-D2BE4AC40D13}" srcOrd="10" destOrd="0" presId="urn:microsoft.com/office/officeart/2018/2/layout/IconVerticalSolidList"/>
    <dgm:cxn modelId="{EEB44E75-EBA7-47DC-9A43-7493A4CEB7E0}" type="presParOf" srcId="{4D859A76-6246-4B9C-9D03-D2BE4AC40D13}" destId="{0C3310C6-FA98-4833-8826-338D75D7CB53}" srcOrd="0" destOrd="0" presId="urn:microsoft.com/office/officeart/2018/2/layout/IconVerticalSolidList"/>
    <dgm:cxn modelId="{5D102189-D183-4B9F-9BFF-9B66B6046A7E}" type="presParOf" srcId="{4D859A76-6246-4B9C-9D03-D2BE4AC40D13}" destId="{A50AD892-7240-442F-823A-DB1ADCEBB60B}" srcOrd="1" destOrd="0" presId="urn:microsoft.com/office/officeart/2018/2/layout/IconVerticalSolidList"/>
    <dgm:cxn modelId="{2C2F7D6A-D605-4FA0-9405-083900CAC1A5}" type="presParOf" srcId="{4D859A76-6246-4B9C-9D03-D2BE4AC40D13}" destId="{AFE82ABC-3526-4E44-AC2F-6472F1ED6999}" srcOrd="2" destOrd="0" presId="urn:microsoft.com/office/officeart/2018/2/layout/IconVerticalSolidList"/>
    <dgm:cxn modelId="{625EBAF9-6E64-4938-A9B8-F73925276C37}" type="presParOf" srcId="{4D859A76-6246-4B9C-9D03-D2BE4AC40D13}" destId="{7DD28DBE-6965-468A-AA88-8C24927EA72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C009F5-2913-4DD3-AB52-266400679981}">
      <dsp:nvSpPr>
        <dsp:cNvPr id="0" name=""/>
        <dsp:cNvSpPr/>
      </dsp:nvSpPr>
      <dsp:spPr>
        <a:xfrm>
          <a:off x="0" y="5049"/>
          <a:ext cx="6391275" cy="6827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B86724-72B3-4AD5-925E-4E638ECFC736}">
      <dsp:nvSpPr>
        <dsp:cNvPr id="0" name=""/>
        <dsp:cNvSpPr/>
      </dsp:nvSpPr>
      <dsp:spPr>
        <a:xfrm>
          <a:off x="206529" y="158666"/>
          <a:ext cx="375875" cy="37550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02F3085-87BA-402B-8927-713C98799801}">
      <dsp:nvSpPr>
        <dsp:cNvPr id="0" name=""/>
        <dsp:cNvSpPr/>
      </dsp:nvSpPr>
      <dsp:spPr>
        <a:xfrm>
          <a:off x="788935" y="5049"/>
          <a:ext cx="5085054" cy="726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844" tIns="76844" rIns="76844" bIns="76844" numCol="1" spcCol="1270" anchor="ctr" anchorCtr="0">
          <a:noAutofit/>
        </a:bodyPr>
        <a:lstStyle/>
        <a:p>
          <a:pPr marL="0" lvl="0" indent="0" algn="l" defTabSz="622300">
            <a:lnSpc>
              <a:spcPct val="100000"/>
            </a:lnSpc>
            <a:spcBef>
              <a:spcPct val="0"/>
            </a:spcBef>
            <a:spcAft>
              <a:spcPct val="35000"/>
            </a:spcAft>
            <a:buNone/>
          </a:pPr>
          <a:r>
            <a:rPr lang="en-US" sz="1400" b="0" i="0" kern="1200" dirty="0" err="1"/>
            <a:t>Zhezherau</a:t>
          </a:r>
          <a:r>
            <a:rPr lang="en-US" sz="1400" b="0" i="0" kern="1200" dirty="0"/>
            <a:t>, A. (2022, November 16). </a:t>
          </a:r>
          <a:r>
            <a:rPr lang="en-US" sz="1400" b="0" i="1" kern="1200" dirty="0"/>
            <a:t>The Agile Software Development Life Cycle: Wrike Agile Guide</a:t>
          </a:r>
          <a:r>
            <a:rPr lang="en-US" sz="1400" b="0" i="0" kern="1200" dirty="0"/>
            <a:t>. Versatile &amp; Robust Project Management Software. https://www.wrike.com/agile-guide/agile-development-life-cycle/ </a:t>
          </a:r>
          <a:endParaRPr lang="en-US" sz="1400" kern="1200" dirty="0"/>
        </a:p>
      </dsp:txBody>
      <dsp:txXfrm>
        <a:off x="788935" y="5049"/>
        <a:ext cx="5085054" cy="726081"/>
      </dsp:txXfrm>
    </dsp:sp>
    <dsp:sp modelId="{FA5E483C-F15C-40E0-8325-108F8D6708B5}">
      <dsp:nvSpPr>
        <dsp:cNvPr id="0" name=""/>
        <dsp:cNvSpPr/>
      </dsp:nvSpPr>
      <dsp:spPr>
        <a:xfrm>
          <a:off x="0" y="907150"/>
          <a:ext cx="6391275" cy="68274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08C3B9-D67B-46E5-8146-556AB7659561}">
      <dsp:nvSpPr>
        <dsp:cNvPr id="0" name=""/>
        <dsp:cNvSpPr/>
      </dsp:nvSpPr>
      <dsp:spPr>
        <a:xfrm>
          <a:off x="206529" y="1060767"/>
          <a:ext cx="375875" cy="37550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7CBB300-89CC-48A3-8735-39F2322BC843}">
      <dsp:nvSpPr>
        <dsp:cNvPr id="0" name=""/>
        <dsp:cNvSpPr/>
      </dsp:nvSpPr>
      <dsp:spPr>
        <a:xfrm>
          <a:off x="788935" y="907150"/>
          <a:ext cx="5085054" cy="726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844" tIns="76844" rIns="76844" bIns="76844" numCol="1" spcCol="1270" anchor="ctr" anchorCtr="0">
          <a:noAutofit/>
        </a:bodyPr>
        <a:lstStyle/>
        <a:p>
          <a:pPr marL="0" lvl="0" indent="0" algn="l" defTabSz="622300">
            <a:lnSpc>
              <a:spcPct val="100000"/>
            </a:lnSpc>
            <a:spcBef>
              <a:spcPct val="0"/>
            </a:spcBef>
            <a:spcAft>
              <a:spcPct val="35000"/>
            </a:spcAft>
            <a:buNone/>
          </a:pPr>
          <a:r>
            <a:rPr lang="en-US" sz="1400" b="0" i="0" kern="1200" dirty="0"/>
            <a:t>Atlassian, M. (2025). </a:t>
          </a:r>
          <a:r>
            <a:rPr lang="en-US" sz="1400" b="0" i="1" kern="1200" dirty="0"/>
            <a:t>What is Scrum? [+ how to start]</a:t>
          </a:r>
          <a:r>
            <a:rPr lang="en-US" sz="1400" b="0" i="0" kern="1200" dirty="0"/>
            <a:t>. https://www.atlassian.com/agile/scrum#:~:text=Scrum%20is%20an%20agile%20project,values%2C%20principles%2C%20and%20practices. </a:t>
          </a:r>
          <a:endParaRPr lang="en-US" sz="1400" kern="1200" dirty="0"/>
        </a:p>
      </dsp:txBody>
      <dsp:txXfrm>
        <a:off x="788935" y="907150"/>
        <a:ext cx="5085054" cy="726081"/>
      </dsp:txXfrm>
    </dsp:sp>
    <dsp:sp modelId="{A27DA67D-2582-4F1D-9D0F-112461418F24}">
      <dsp:nvSpPr>
        <dsp:cNvPr id="0" name=""/>
        <dsp:cNvSpPr/>
      </dsp:nvSpPr>
      <dsp:spPr>
        <a:xfrm>
          <a:off x="0" y="1809252"/>
          <a:ext cx="6391275" cy="68274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CDBAB0-B465-49F6-A497-BDCFC7B5FDAB}">
      <dsp:nvSpPr>
        <dsp:cNvPr id="0" name=""/>
        <dsp:cNvSpPr/>
      </dsp:nvSpPr>
      <dsp:spPr>
        <a:xfrm>
          <a:off x="206529" y="1962869"/>
          <a:ext cx="375875" cy="37550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21A9EFF-2978-4BFF-9FB8-E2A2DE4727C3}">
      <dsp:nvSpPr>
        <dsp:cNvPr id="0" name=""/>
        <dsp:cNvSpPr/>
      </dsp:nvSpPr>
      <dsp:spPr>
        <a:xfrm>
          <a:off x="788935" y="1809252"/>
          <a:ext cx="5085054" cy="726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844" tIns="76844" rIns="76844" bIns="76844" numCol="1" spcCol="1270" anchor="ctr" anchorCtr="0">
          <a:noAutofit/>
        </a:bodyPr>
        <a:lstStyle/>
        <a:p>
          <a:pPr marL="0" lvl="0" indent="0" algn="l" defTabSz="622300">
            <a:lnSpc>
              <a:spcPct val="100000"/>
            </a:lnSpc>
            <a:spcBef>
              <a:spcPct val="0"/>
            </a:spcBef>
            <a:spcAft>
              <a:spcPct val="35000"/>
            </a:spcAft>
            <a:buNone/>
          </a:pPr>
          <a:r>
            <a:rPr lang="en-US" sz="1400" b="0" i="0" kern="1200" dirty="0"/>
            <a:t>Overeem, B. (2016, April 15). </a:t>
          </a:r>
          <a:r>
            <a:rPr lang="en-US" sz="1400" b="0" i="1" kern="1200" dirty="0"/>
            <a:t>Characteristics of a great scrum team</a:t>
          </a:r>
          <a:r>
            <a:rPr lang="en-US" sz="1400" b="0" i="0" kern="1200" dirty="0"/>
            <a:t>. </a:t>
          </a:r>
          <a:r>
            <a:rPr lang="en-US" sz="1400" b="0" i="0" kern="1200" dirty="0" err="1"/>
            <a:t>InfoQ</a:t>
          </a:r>
          <a:r>
            <a:rPr lang="en-US" sz="1400" b="0" i="0" kern="1200" dirty="0"/>
            <a:t>. https://www.infoq.com/articles/great-scrum-team/ </a:t>
          </a:r>
          <a:endParaRPr lang="en-US" sz="1400" kern="1200" dirty="0"/>
        </a:p>
      </dsp:txBody>
      <dsp:txXfrm>
        <a:off x="788935" y="1809252"/>
        <a:ext cx="5085054" cy="726081"/>
      </dsp:txXfrm>
    </dsp:sp>
    <dsp:sp modelId="{24BD55BD-0C76-4B38-93A7-9963BB88FC57}">
      <dsp:nvSpPr>
        <dsp:cNvPr id="0" name=""/>
        <dsp:cNvSpPr/>
      </dsp:nvSpPr>
      <dsp:spPr>
        <a:xfrm>
          <a:off x="0" y="2711353"/>
          <a:ext cx="6391275" cy="68274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FD76E3-C436-4586-98D0-B43A5F9854F1}">
      <dsp:nvSpPr>
        <dsp:cNvPr id="0" name=""/>
        <dsp:cNvSpPr/>
      </dsp:nvSpPr>
      <dsp:spPr>
        <a:xfrm>
          <a:off x="206529" y="2864970"/>
          <a:ext cx="375875" cy="37550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AA82A5C-FCE4-4783-8B91-AF88FCDC1D79}">
      <dsp:nvSpPr>
        <dsp:cNvPr id="0" name=""/>
        <dsp:cNvSpPr/>
      </dsp:nvSpPr>
      <dsp:spPr>
        <a:xfrm>
          <a:off x="788935" y="2711353"/>
          <a:ext cx="5085054" cy="726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844" tIns="76844" rIns="76844" bIns="76844" numCol="1" spcCol="1270" anchor="ctr" anchorCtr="0">
          <a:noAutofit/>
        </a:bodyPr>
        <a:lstStyle/>
        <a:p>
          <a:pPr marL="0" lvl="0" indent="0" algn="l" defTabSz="622300">
            <a:lnSpc>
              <a:spcPct val="100000"/>
            </a:lnSpc>
            <a:spcBef>
              <a:spcPct val="0"/>
            </a:spcBef>
            <a:spcAft>
              <a:spcPct val="35000"/>
            </a:spcAft>
            <a:buNone/>
          </a:pPr>
          <a:r>
            <a:rPr lang="en-US" sz="1400" b="0" i="0" kern="1200" dirty="0"/>
            <a:t>Cobb, C. G. (2023). </a:t>
          </a:r>
          <a:r>
            <a:rPr lang="en-US" sz="1400" b="0" i="1" kern="1200" dirty="0"/>
            <a:t>The Project Manager’s Guide to Mastering Agile: Principles and practices for an adaptive approach</a:t>
          </a:r>
          <a:r>
            <a:rPr lang="en-US" sz="1400" b="0" i="0" kern="1200" dirty="0"/>
            <a:t>. John Wiley &amp; Sons, Inc. </a:t>
          </a:r>
          <a:endParaRPr lang="en-US" sz="1400" kern="1200" dirty="0"/>
        </a:p>
      </dsp:txBody>
      <dsp:txXfrm>
        <a:off x="788935" y="2711353"/>
        <a:ext cx="5085054" cy="726081"/>
      </dsp:txXfrm>
    </dsp:sp>
    <dsp:sp modelId="{B44D0F49-9F14-4857-8416-4EEFE523F311}">
      <dsp:nvSpPr>
        <dsp:cNvPr id="0" name=""/>
        <dsp:cNvSpPr/>
      </dsp:nvSpPr>
      <dsp:spPr>
        <a:xfrm>
          <a:off x="0" y="3613454"/>
          <a:ext cx="6391275" cy="682743"/>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862F71-4A1A-4EC4-B3D2-A4D9804376DB}">
      <dsp:nvSpPr>
        <dsp:cNvPr id="0" name=""/>
        <dsp:cNvSpPr/>
      </dsp:nvSpPr>
      <dsp:spPr>
        <a:xfrm>
          <a:off x="206529" y="3767072"/>
          <a:ext cx="375875" cy="375508"/>
        </a:xfrm>
        <a:prstGeom prst="rect">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0C2111-5648-49E6-86F2-0CE27E1549FB}">
      <dsp:nvSpPr>
        <dsp:cNvPr id="0" name=""/>
        <dsp:cNvSpPr/>
      </dsp:nvSpPr>
      <dsp:spPr>
        <a:xfrm>
          <a:off x="788935" y="3613454"/>
          <a:ext cx="5085054" cy="726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844" tIns="76844" rIns="76844" bIns="76844" numCol="1" spcCol="1270" anchor="ctr" anchorCtr="0">
          <a:noAutofit/>
        </a:bodyPr>
        <a:lstStyle/>
        <a:p>
          <a:pPr marL="0" lvl="0" indent="0" algn="l" defTabSz="622300">
            <a:lnSpc>
              <a:spcPct val="100000"/>
            </a:lnSpc>
            <a:spcBef>
              <a:spcPct val="0"/>
            </a:spcBef>
            <a:spcAft>
              <a:spcPct val="35000"/>
            </a:spcAft>
            <a:buNone/>
          </a:pPr>
          <a:r>
            <a:rPr lang="en-US" sz="1400" kern="1200" dirty="0" err="1"/>
            <a:t>Gofishdigital</a:t>
          </a:r>
          <a:r>
            <a:rPr lang="en-US" sz="1400" kern="1200" dirty="0"/>
            <a:t>. (2024, July 31). </a:t>
          </a:r>
          <a:r>
            <a:rPr lang="en-US" sz="1400" i="1" kern="1200" dirty="0"/>
            <a:t>Scrum vs. waterfall: Complete guide</a:t>
          </a:r>
          <a:r>
            <a:rPr lang="en-US" sz="1400" kern="1200" dirty="0"/>
            <a:t>. Knack. https://www.knack.com/blog/scrum-vs-waterfall/ </a:t>
          </a:r>
        </a:p>
      </dsp:txBody>
      <dsp:txXfrm>
        <a:off x="788935" y="3613454"/>
        <a:ext cx="5085054" cy="726081"/>
      </dsp:txXfrm>
    </dsp:sp>
    <dsp:sp modelId="{0C3310C6-FA98-4833-8826-338D75D7CB53}">
      <dsp:nvSpPr>
        <dsp:cNvPr id="0" name=""/>
        <dsp:cNvSpPr/>
      </dsp:nvSpPr>
      <dsp:spPr>
        <a:xfrm>
          <a:off x="0" y="4515556"/>
          <a:ext cx="6391275" cy="6827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0AD892-7240-442F-823A-DB1ADCEBB60B}">
      <dsp:nvSpPr>
        <dsp:cNvPr id="0" name=""/>
        <dsp:cNvSpPr/>
      </dsp:nvSpPr>
      <dsp:spPr>
        <a:xfrm>
          <a:off x="206529" y="4669173"/>
          <a:ext cx="375875" cy="375508"/>
        </a:xfrm>
        <a:prstGeom prst="rect">
          <a:avLst/>
        </a:prstGeom>
        <a:blipFill>
          <a:blip xmlns:r="http://schemas.openxmlformats.org/officeDocument/2006/relationships">
            <a:extLst>
              <a:ext uri="{96DAC541-7B7A-43D3-8B79-37D633B846F1}">
                <asvg:svgBlip xmlns:asvg="http://schemas.microsoft.com/office/drawing/2016/SVG/main" r:embed="rId6"/>
              </a:ext>
            </a:extLst>
          </a:blip>
          <a:srcRect/>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D28DBE-6965-468A-AA88-8C24927EA725}">
      <dsp:nvSpPr>
        <dsp:cNvPr id="0" name=""/>
        <dsp:cNvSpPr/>
      </dsp:nvSpPr>
      <dsp:spPr>
        <a:xfrm>
          <a:off x="788935" y="4515556"/>
          <a:ext cx="5085054" cy="726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844" tIns="76844" rIns="76844" bIns="76844" numCol="1" spcCol="1270" anchor="ctr" anchorCtr="0">
          <a:noAutofit/>
        </a:bodyPr>
        <a:lstStyle/>
        <a:p>
          <a:pPr marL="0" lvl="0" indent="0" algn="l" defTabSz="622300">
            <a:lnSpc>
              <a:spcPct val="100000"/>
            </a:lnSpc>
            <a:spcBef>
              <a:spcPct val="0"/>
            </a:spcBef>
            <a:spcAft>
              <a:spcPct val="35000"/>
            </a:spcAft>
            <a:buNone/>
          </a:pPr>
          <a:r>
            <a:rPr lang="en-US" sz="1400" kern="1200" dirty="0" err="1"/>
            <a:t>Kazinik</a:t>
          </a:r>
          <a:r>
            <a:rPr lang="en-US" sz="1400" kern="1200" dirty="0"/>
            <a:t>, B. (2026, March 8). </a:t>
          </a:r>
          <a:r>
            <a:rPr lang="en-US" sz="1400" i="1" kern="1200" dirty="0"/>
            <a:t>Scrum vs waterfall: Choosing the right methodology in 2026</a:t>
          </a:r>
          <a:r>
            <a:rPr lang="en-US" sz="1400" kern="1200" dirty="0"/>
            <a:t>. monday.com Blog. https://monday.com/blog/rnd/scrum-vs-waterfall/ </a:t>
          </a:r>
        </a:p>
      </dsp:txBody>
      <dsp:txXfrm>
        <a:off x="788935" y="4515556"/>
        <a:ext cx="5085054" cy="72608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BAB868F2-31B8-4B7A-9ED0-2922FA5ECBF9}" type="datetimeFigureOut">
              <a:rPr lang="en-US" smtClean="0"/>
              <a:t>5/31/2026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Slide Number Placeholder 5"/>
          <p:cNvSpPr>
            <a:spLocks noGrp="1"/>
          </p:cNvSpPr>
          <p:nvPr>
            <p:ph type="sldNum" sz="quarter" idx="12"/>
          </p:nvPr>
        </p:nvSpPr>
        <p:spPr>
          <a:xfrm>
            <a:off x="10352540" y="295729"/>
            <a:ext cx="838199" cy="767687"/>
          </a:xfrm>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462681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B868F2-31B8-4B7A-9ED0-2922FA5ECBF9}"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1313620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B868F2-31B8-4B7A-9ED0-2922FA5ECBF9}"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4035817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B868F2-31B8-4B7A-9ED0-2922FA5ECBF9}"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132612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AB868F2-31B8-4B7A-9ED0-2922FA5ECBF9}" type="datetimeFigureOut">
              <a:rPr lang="en-US" smtClean="0"/>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1481597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B868F2-31B8-4B7A-9ED0-2922FA5ECBF9}" type="datetimeFigureOut">
              <a:rPr lang="en-US" smtClean="0"/>
              <a:t>5/31/2026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3159342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B868F2-31B8-4B7A-9ED0-2922FA5ECBF9}" type="datetimeFigureOut">
              <a:rPr lang="en-US" smtClean="0"/>
              <a:t>5/31/2026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23184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B868F2-31B8-4B7A-9ED0-2922FA5ECBF9}"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3508391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B868F2-31B8-4B7A-9ED0-2922FA5ECBF9}"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Slide Number Placeholder 6"/>
          <p:cNvSpPr>
            <a:spLocks noGrp="1"/>
          </p:cNvSpPr>
          <p:nvPr>
            <p:ph type="sldNum" sz="quarter" idx="12"/>
          </p:nvPr>
        </p:nvSpPr>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1271757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B868F2-31B8-4B7A-9ED0-2922FA5ECBF9}"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69623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txBody>
            <a:bodyPr/>
            <a:lstStyle/>
            <a:p>
              <a:endParaRPr lang="en-US"/>
            </a:p>
          </p:txBody>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AB868F2-31B8-4B7A-9ED0-2922FA5ECBF9}"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10953680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AB868F2-31B8-4B7A-9ED0-2922FA5ECBF9}"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27026196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B868F2-31B8-4B7A-9ED0-2922FA5ECBF9}"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3279401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AB868F2-31B8-4B7A-9ED0-2922FA5ECBF9}" type="datetimeFigureOut">
              <a:rPr lang="en-US" smtClean="0"/>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5060792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AB868F2-31B8-4B7A-9ED0-2922FA5ECBF9}" type="datetimeFigureOut">
              <a:rPr lang="en-US" smtClean="0"/>
              <a:t>5/31/2026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41949124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BAB868F2-31B8-4B7A-9ED0-2922FA5ECBF9}"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15544324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BAB868F2-31B8-4B7A-9ED0-2922FA5ECBF9}"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1451AC4-C3AA-489B-A273-FD19B95F3B1F}" type="slidenum">
              <a:rPr lang="en-US" smtClean="0"/>
              <a:t>‹#›</a:t>
            </a:fld>
            <a:endParaRPr lang="en-US"/>
          </a:p>
        </p:txBody>
      </p:sp>
    </p:spTree>
    <p:extLst>
      <p:ext uri="{BB962C8B-B14F-4D97-AF65-F5344CB8AC3E}">
        <p14:creationId xmlns:p14="http://schemas.microsoft.com/office/powerpoint/2010/main" val="3358650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BAB868F2-31B8-4B7A-9ED0-2922FA5ECBF9}" type="datetimeFigureOut">
              <a:rPr lang="en-US" smtClean="0"/>
              <a:t>5/31/2026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1451AC4-C3AA-489B-A273-FD19B95F3B1F}" type="slidenum">
              <a:rPr lang="en-US" smtClean="0"/>
              <a:t>‹#›</a:t>
            </a:fld>
            <a:endParaRPr lang="en-US"/>
          </a:p>
        </p:txBody>
      </p:sp>
    </p:spTree>
    <p:extLst>
      <p:ext uri="{BB962C8B-B14F-4D97-AF65-F5344CB8AC3E}">
        <p14:creationId xmlns:p14="http://schemas.microsoft.com/office/powerpoint/2010/main" val="250605236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F1ECA4FE-7D2F-4576-B767-3A5F5ABFE9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9" name="Rectangle 8">
              <a:extLst>
                <a:ext uri="{FF2B5EF4-FFF2-40B4-BE49-F238E27FC236}">
                  <a16:creationId xmlns:a16="http://schemas.microsoft.com/office/drawing/2014/main" id="{5969441E-5462-4859-86CD-1737FDE36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a:extLst>
                <a:ext uri="{FF2B5EF4-FFF2-40B4-BE49-F238E27FC236}">
                  <a16:creationId xmlns:a16="http://schemas.microsoft.com/office/drawing/2014/main" id="{596BD4B5-6833-40CC-96FE-EDC67563426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a:extLst>
              <a:ext uri="{FF2B5EF4-FFF2-40B4-BE49-F238E27FC236}">
                <a16:creationId xmlns:a16="http://schemas.microsoft.com/office/drawing/2014/main" id="{787CDE64-52A6-FC95-2019-3C7DBCAEB225}"/>
              </a:ext>
            </a:extLst>
          </p:cNvPr>
          <p:cNvSpPr>
            <a:spLocks noGrp="1"/>
          </p:cNvSpPr>
          <p:nvPr>
            <p:ph type="ctrTitle"/>
          </p:nvPr>
        </p:nvSpPr>
        <p:spPr>
          <a:xfrm>
            <a:off x="1683171" y="1169773"/>
            <a:ext cx="8825658" cy="2870161"/>
          </a:xfrm>
        </p:spPr>
        <p:txBody>
          <a:bodyPr anchor="b">
            <a:normAutofit/>
          </a:bodyPr>
          <a:lstStyle/>
          <a:p>
            <a:pPr algn="ctr"/>
            <a:r>
              <a:rPr lang="en-US" dirty="0">
                <a:solidFill>
                  <a:schemeClr val="tx1"/>
                </a:solidFill>
              </a:rPr>
              <a:t>Agile and Waterfall</a:t>
            </a:r>
          </a:p>
        </p:txBody>
      </p:sp>
      <p:sp>
        <p:nvSpPr>
          <p:cNvPr id="3" name="Subtitle 2">
            <a:extLst>
              <a:ext uri="{FF2B5EF4-FFF2-40B4-BE49-F238E27FC236}">
                <a16:creationId xmlns:a16="http://schemas.microsoft.com/office/drawing/2014/main" id="{E2FC53E0-331D-C95E-A93E-14845B5A26DA}"/>
              </a:ext>
            </a:extLst>
          </p:cNvPr>
          <p:cNvSpPr>
            <a:spLocks noGrp="1"/>
          </p:cNvSpPr>
          <p:nvPr>
            <p:ph type="subTitle" idx="1"/>
          </p:nvPr>
        </p:nvSpPr>
        <p:spPr>
          <a:xfrm>
            <a:off x="1683171" y="4293441"/>
            <a:ext cx="8825658" cy="1234148"/>
          </a:xfrm>
        </p:spPr>
        <p:txBody>
          <a:bodyPr>
            <a:normAutofit/>
          </a:bodyPr>
          <a:lstStyle/>
          <a:p>
            <a:pPr algn="ctr"/>
            <a:r>
              <a:rPr lang="en-US" sz="2000"/>
              <a:t>By Anyssa Livingston</a:t>
            </a:r>
          </a:p>
        </p:txBody>
      </p:sp>
      <p:cxnSp>
        <p:nvCxnSpPr>
          <p:cNvPr id="12" name="Straight Connector 11">
            <a:extLst>
              <a:ext uri="{FF2B5EF4-FFF2-40B4-BE49-F238E27FC236}">
                <a16:creationId xmlns:a16="http://schemas.microsoft.com/office/drawing/2014/main" id="{E81F53E2-F556-42FA-8D24-113839EE19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58249" y="4166888"/>
            <a:ext cx="675502"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43740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17942-5A78-CC64-31A4-3F638440860A}"/>
              </a:ext>
            </a:extLst>
          </p:cNvPr>
          <p:cNvSpPr>
            <a:spLocks noGrp="1"/>
          </p:cNvSpPr>
          <p:nvPr>
            <p:ph type="title"/>
          </p:nvPr>
        </p:nvSpPr>
        <p:spPr/>
        <p:txBody>
          <a:bodyPr/>
          <a:lstStyle/>
          <a:p>
            <a:r>
              <a:rPr lang="en-US" dirty="0"/>
              <a:t>Agile Roles</a:t>
            </a:r>
          </a:p>
        </p:txBody>
      </p:sp>
      <p:sp>
        <p:nvSpPr>
          <p:cNvPr id="3" name="Content Placeholder 2">
            <a:extLst>
              <a:ext uri="{FF2B5EF4-FFF2-40B4-BE49-F238E27FC236}">
                <a16:creationId xmlns:a16="http://schemas.microsoft.com/office/drawing/2014/main" id="{61C05ECE-68DD-601B-38BB-7494FA1D4C3A}"/>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US" b="1" dirty="0"/>
              <a:t>Product Owner</a:t>
            </a:r>
          </a:p>
          <a:p>
            <a:pPr marL="0" indent="0">
              <a:buNone/>
            </a:pPr>
            <a:r>
              <a:rPr lang="en-US" dirty="0"/>
              <a:t>     </a:t>
            </a:r>
            <a:r>
              <a:rPr lang="en-US" sz="1600" dirty="0"/>
              <a:t>Responsible for prioritizing the backlog, user stories and ensuring alignment with objectives</a:t>
            </a:r>
          </a:p>
          <a:p>
            <a:pPr>
              <a:buFont typeface="Arial" panose="020B0604020202020204" pitchFamily="34" charset="0"/>
              <a:buChar char="•"/>
            </a:pPr>
            <a:r>
              <a:rPr lang="en-US" b="1" dirty="0"/>
              <a:t>Scrum Master</a:t>
            </a:r>
          </a:p>
          <a:p>
            <a:pPr marL="0" indent="0">
              <a:buNone/>
            </a:pPr>
            <a:r>
              <a:rPr lang="en-US" dirty="0"/>
              <a:t>     </a:t>
            </a:r>
            <a:r>
              <a:rPr lang="en-US" sz="1600" dirty="0"/>
              <a:t>Facilitator of the Scrum process; ensuring the team follows Agile principles, removes impediments, and fosters collaboration. Organizes and leads daily-stand up meetings, sprint planning and review sessions.</a:t>
            </a:r>
            <a:endParaRPr lang="en-US" dirty="0"/>
          </a:p>
          <a:p>
            <a:pPr>
              <a:buFont typeface="Arial" panose="020B0604020202020204" pitchFamily="34" charset="0"/>
              <a:buChar char="•"/>
            </a:pPr>
            <a:r>
              <a:rPr lang="en-US" b="1" dirty="0"/>
              <a:t>Development team</a:t>
            </a:r>
          </a:p>
          <a:p>
            <a:pPr marL="0" indent="0">
              <a:buNone/>
            </a:pPr>
            <a:r>
              <a:rPr lang="en-US" sz="1600" dirty="0"/>
              <a:t>      Cross-functional group responsible for implementing user stories and delivering a potentially shippable product increment in each sprint</a:t>
            </a:r>
          </a:p>
          <a:p>
            <a:pPr>
              <a:buFont typeface="Arial" panose="020B0604020202020204" pitchFamily="34" charset="0"/>
              <a:buChar char="•"/>
            </a:pPr>
            <a:r>
              <a:rPr lang="en-US" b="1" dirty="0"/>
              <a:t>Stakeholders</a:t>
            </a:r>
          </a:p>
          <a:p>
            <a:pPr marL="0" indent="0">
              <a:buNone/>
            </a:pPr>
            <a:r>
              <a:rPr lang="en-US" b="1" dirty="0"/>
              <a:t>      </a:t>
            </a:r>
            <a:r>
              <a:rPr lang="en-US" sz="1600" dirty="0"/>
              <a:t>Individuals or groups who have an interest in the projects outcome, providing feedback and sometimes attending Sprint Review meetings to see the progress and make suggestions</a:t>
            </a:r>
            <a:endParaRPr lang="en-US" b="1" dirty="0"/>
          </a:p>
        </p:txBody>
      </p:sp>
    </p:spTree>
    <p:extLst>
      <p:ext uri="{BB962C8B-B14F-4D97-AF65-F5344CB8AC3E}">
        <p14:creationId xmlns:p14="http://schemas.microsoft.com/office/powerpoint/2010/main" val="2960359845"/>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A409C-9C93-EE8A-F1DD-8D62C53389EC}"/>
              </a:ext>
            </a:extLst>
          </p:cNvPr>
          <p:cNvSpPr>
            <a:spLocks noGrp="1"/>
          </p:cNvSpPr>
          <p:nvPr>
            <p:ph type="title"/>
          </p:nvPr>
        </p:nvSpPr>
        <p:spPr/>
        <p:txBody>
          <a:bodyPr/>
          <a:lstStyle/>
          <a:p>
            <a:r>
              <a:rPr lang="en-US" dirty="0"/>
              <a:t>Agile Phases</a:t>
            </a:r>
          </a:p>
        </p:txBody>
      </p:sp>
      <p:sp>
        <p:nvSpPr>
          <p:cNvPr id="3" name="Content Placeholder 2">
            <a:extLst>
              <a:ext uri="{FF2B5EF4-FFF2-40B4-BE49-F238E27FC236}">
                <a16:creationId xmlns:a16="http://schemas.microsoft.com/office/drawing/2014/main" id="{E7C15B43-B2FC-213E-F1C2-07846E154150}"/>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US" b="1" dirty="0"/>
              <a:t>Planning</a:t>
            </a:r>
          </a:p>
          <a:p>
            <a:pPr marL="0" indent="0">
              <a:buNone/>
            </a:pPr>
            <a:r>
              <a:rPr lang="en-US" b="1" dirty="0"/>
              <a:t>      </a:t>
            </a:r>
            <a:r>
              <a:rPr lang="en-US" sz="1600" dirty="0"/>
              <a:t>Involves creating a product backlog, planning the work for the next Sprint, and setting priorities</a:t>
            </a:r>
            <a:endParaRPr lang="en-US" b="1" dirty="0"/>
          </a:p>
          <a:p>
            <a:pPr>
              <a:buFont typeface="Arial" panose="020B0604020202020204" pitchFamily="34" charset="0"/>
              <a:buChar char="•"/>
            </a:pPr>
            <a:r>
              <a:rPr lang="en-US" b="1" dirty="0"/>
              <a:t>Execution</a:t>
            </a:r>
          </a:p>
          <a:p>
            <a:pPr marL="0" indent="0">
              <a:buNone/>
            </a:pPr>
            <a:r>
              <a:rPr lang="en-US" b="1" dirty="0"/>
              <a:t>     </a:t>
            </a:r>
            <a:r>
              <a:rPr lang="en-US" sz="1600" dirty="0"/>
              <a:t>The development team during the Sprint works on the tasks from the backlog, aiming to create a potentially shippable product increment</a:t>
            </a:r>
            <a:endParaRPr lang="en-US" b="1" dirty="0"/>
          </a:p>
          <a:p>
            <a:pPr>
              <a:buFont typeface="Arial" panose="020B0604020202020204" pitchFamily="34" charset="0"/>
              <a:buChar char="•"/>
            </a:pPr>
            <a:r>
              <a:rPr lang="en-US" b="1" dirty="0"/>
              <a:t>Review</a:t>
            </a:r>
          </a:p>
          <a:p>
            <a:pPr marL="0" indent="0">
              <a:buNone/>
            </a:pPr>
            <a:r>
              <a:rPr lang="en-US" b="1" dirty="0"/>
              <a:t>      </a:t>
            </a:r>
            <a:r>
              <a:rPr lang="en-US" sz="1600" dirty="0"/>
              <a:t>Is done at the end of the Sprint, held to demonstrate the completed work to stakeholders and gather feedback</a:t>
            </a:r>
            <a:endParaRPr lang="en-US" b="1" dirty="0"/>
          </a:p>
          <a:p>
            <a:pPr>
              <a:buFont typeface="Arial" panose="020B0604020202020204" pitchFamily="34" charset="0"/>
              <a:buChar char="•"/>
            </a:pPr>
            <a:r>
              <a:rPr lang="en-US" b="1" dirty="0"/>
              <a:t>Retrospective</a:t>
            </a:r>
          </a:p>
          <a:p>
            <a:pPr marL="0" indent="0">
              <a:buNone/>
            </a:pPr>
            <a:r>
              <a:rPr lang="en-US" b="1" dirty="0"/>
              <a:t>      </a:t>
            </a:r>
            <a:r>
              <a:rPr lang="en-US" sz="1600" dirty="0"/>
              <a:t>After the review, the team conducts a retrospective to reflect on what could be improved in the next sprint and what went well</a:t>
            </a:r>
            <a:endParaRPr lang="en-US" b="1" dirty="0"/>
          </a:p>
        </p:txBody>
      </p:sp>
    </p:spTree>
    <p:extLst>
      <p:ext uri="{BB962C8B-B14F-4D97-AF65-F5344CB8AC3E}">
        <p14:creationId xmlns:p14="http://schemas.microsoft.com/office/powerpoint/2010/main" val="3889360665"/>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BCCF2-6837-66E9-0E31-9420E5C30E2B}"/>
              </a:ext>
            </a:extLst>
          </p:cNvPr>
          <p:cNvSpPr>
            <a:spLocks noGrp="1"/>
          </p:cNvSpPr>
          <p:nvPr>
            <p:ph type="title"/>
          </p:nvPr>
        </p:nvSpPr>
        <p:spPr/>
        <p:txBody>
          <a:bodyPr/>
          <a:lstStyle/>
          <a:p>
            <a:r>
              <a:rPr lang="en-US" dirty="0"/>
              <a:t>Waterfall Phases</a:t>
            </a:r>
          </a:p>
        </p:txBody>
      </p:sp>
      <p:sp>
        <p:nvSpPr>
          <p:cNvPr id="3" name="Text Placeholder 2">
            <a:extLst>
              <a:ext uri="{FF2B5EF4-FFF2-40B4-BE49-F238E27FC236}">
                <a16:creationId xmlns:a16="http://schemas.microsoft.com/office/drawing/2014/main" id="{B0F671B4-4B00-A48B-DD16-DF2D64DC0812}"/>
              </a:ext>
            </a:extLst>
          </p:cNvPr>
          <p:cNvSpPr>
            <a:spLocks noGrp="1"/>
          </p:cNvSpPr>
          <p:nvPr>
            <p:ph type="body" sz="half" idx="2"/>
          </p:nvPr>
        </p:nvSpPr>
        <p:spPr>
          <a:xfrm>
            <a:off x="1077362" y="3195873"/>
            <a:ext cx="8903252" cy="3258493"/>
          </a:xfrm>
        </p:spPr>
        <p:txBody>
          <a:bodyPr>
            <a:normAutofit fontScale="85000" lnSpcReduction="20000"/>
          </a:bodyPr>
          <a:lstStyle/>
          <a:p>
            <a:pPr marL="285750" indent="-285750">
              <a:buFont typeface="Arial" panose="020B0604020202020204" pitchFamily="34" charset="0"/>
              <a:buChar char="•"/>
            </a:pPr>
            <a:r>
              <a:rPr lang="en-US" sz="2000" b="1" dirty="0"/>
              <a:t>Requirements</a:t>
            </a:r>
          </a:p>
          <a:p>
            <a:r>
              <a:rPr lang="en-US" dirty="0"/>
              <a:t>Project specifications and stakeholder needs will be collected upfront</a:t>
            </a:r>
          </a:p>
          <a:p>
            <a:pPr marL="285750" indent="-285750">
              <a:buFont typeface="Arial" panose="020B0604020202020204" pitchFamily="34" charset="0"/>
              <a:buChar char="•"/>
            </a:pPr>
            <a:r>
              <a:rPr lang="en-US" sz="2000" b="1" dirty="0"/>
              <a:t>Design</a:t>
            </a:r>
          </a:p>
          <a:p>
            <a:r>
              <a:rPr lang="en-US" dirty="0"/>
              <a:t>Technical blueprints are created to map out how to build the specific features required</a:t>
            </a:r>
          </a:p>
          <a:p>
            <a:pPr marL="285750" indent="-285750">
              <a:buFont typeface="Arial" panose="020B0604020202020204" pitchFamily="34" charset="0"/>
              <a:buChar char="•"/>
            </a:pPr>
            <a:r>
              <a:rPr lang="en-US" sz="2000" b="1" dirty="0"/>
              <a:t>Implementation</a:t>
            </a:r>
          </a:p>
          <a:p>
            <a:r>
              <a:rPr lang="en-US" dirty="0"/>
              <a:t>The actual product begins with the building process</a:t>
            </a:r>
          </a:p>
          <a:p>
            <a:pPr marL="285750" indent="-285750">
              <a:buFont typeface="Arial" panose="020B0604020202020204" pitchFamily="34" charset="0"/>
              <a:buChar char="•"/>
            </a:pPr>
            <a:r>
              <a:rPr lang="en-US" sz="2000" b="1" dirty="0"/>
              <a:t>Testing</a:t>
            </a:r>
          </a:p>
          <a:p>
            <a:r>
              <a:rPr lang="en-US" dirty="0"/>
              <a:t>Verify everything for the product is working correctly</a:t>
            </a:r>
          </a:p>
          <a:p>
            <a:pPr marL="285750" indent="-285750">
              <a:buFont typeface="Arial" panose="020B0604020202020204" pitchFamily="34" charset="0"/>
              <a:buChar char="•"/>
            </a:pPr>
            <a:r>
              <a:rPr lang="en-US" sz="2000" b="1" dirty="0"/>
              <a:t>Deployment</a:t>
            </a:r>
          </a:p>
          <a:p>
            <a:r>
              <a:rPr lang="en-US" dirty="0"/>
              <a:t>The finished product is released and ready to be shipped</a:t>
            </a:r>
          </a:p>
        </p:txBody>
      </p:sp>
    </p:spTree>
    <p:extLst>
      <p:ext uri="{BB962C8B-B14F-4D97-AF65-F5344CB8AC3E}">
        <p14:creationId xmlns:p14="http://schemas.microsoft.com/office/powerpoint/2010/main" val="4039873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ascade of waterfalls">
            <a:extLst>
              <a:ext uri="{FF2B5EF4-FFF2-40B4-BE49-F238E27FC236}">
                <a16:creationId xmlns:a16="http://schemas.microsoft.com/office/drawing/2014/main" id="{7C075C45-F2A8-4B42-9FEC-D8B0295EBF4D}"/>
              </a:ext>
            </a:extLst>
          </p:cNvPr>
          <p:cNvPicPr>
            <a:picLocks noChangeAspect="1"/>
          </p:cNvPicPr>
          <p:nvPr/>
        </p:nvPicPr>
        <p:blipFill>
          <a:blip r:embed="rId2">
            <a:alphaModFix amt="40000"/>
          </a:blip>
          <a:srcRect t="12841" b="2889"/>
          <a:stretch/>
        </p:blipFill>
        <p:spPr>
          <a:xfrm>
            <a:off x="20" y="10"/>
            <a:ext cx="12191980" cy="6857990"/>
          </a:xfrm>
          <a:prstGeom prst="rect">
            <a:avLst/>
          </a:prstGeom>
        </p:spPr>
      </p:pic>
      <p:sp>
        <p:nvSpPr>
          <p:cNvPr id="2" name="Title 1">
            <a:extLst>
              <a:ext uri="{FF2B5EF4-FFF2-40B4-BE49-F238E27FC236}">
                <a16:creationId xmlns:a16="http://schemas.microsoft.com/office/drawing/2014/main" id="{AB2C5834-3685-6881-259A-72497AD59D08}"/>
              </a:ext>
            </a:extLst>
          </p:cNvPr>
          <p:cNvSpPr>
            <a:spLocks noGrp="1"/>
          </p:cNvSpPr>
          <p:nvPr>
            <p:ph type="title"/>
          </p:nvPr>
        </p:nvSpPr>
        <p:spPr>
          <a:xfrm>
            <a:off x="1154954" y="973668"/>
            <a:ext cx="8761413" cy="706964"/>
          </a:xfrm>
        </p:spPr>
        <p:txBody>
          <a:bodyPr>
            <a:normAutofit/>
          </a:bodyPr>
          <a:lstStyle/>
          <a:p>
            <a:r>
              <a:rPr lang="en-US">
                <a:solidFill>
                  <a:schemeClr val="tx1"/>
                </a:solidFill>
              </a:rPr>
              <a:t>Waterfall Model</a:t>
            </a:r>
          </a:p>
        </p:txBody>
      </p:sp>
      <p:sp>
        <p:nvSpPr>
          <p:cNvPr id="3" name="Content Placeholder 2">
            <a:extLst>
              <a:ext uri="{FF2B5EF4-FFF2-40B4-BE49-F238E27FC236}">
                <a16:creationId xmlns:a16="http://schemas.microsoft.com/office/drawing/2014/main" id="{4F0CE1ED-622B-FEC8-468C-908BD88312C2}"/>
              </a:ext>
            </a:extLst>
          </p:cNvPr>
          <p:cNvSpPr>
            <a:spLocks noGrp="1"/>
          </p:cNvSpPr>
          <p:nvPr>
            <p:ph idx="1"/>
          </p:nvPr>
        </p:nvSpPr>
        <p:spPr>
          <a:xfrm>
            <a:off x="1316879" y="2917825"/>
            <a:ext cx="8825659" cy="3416300"/>
          </a:xfrm>
        </p:spPr>
        <p:txBody>
          <a:bodyPr>
            <a:normAutofit/>
          </a:bodyPr>
          <a:lstStyle/>
          <a:p>
            <a:r>
              <a:rPr lang="en-US" dirty="0">
                <a:solidFill>
                  <a:schemeClr val="tx1"/>
                </a:solidFill>
              </a:rPr>
              <a:t>In a waterfall development approach, it is more rigid. The process is linear and each phase is done in order. If there is an issue in one phase, it can fall into further phases which then causes delays and increased costs. An example would be if there is a misunderstanding in the initial requirements phase, it might not be discovered until the test phase. Trying to fix this issue late in the project can be costly and time-consuming in a Waterfall approach, causing delays.</a:t>
            </a:r>
          </a:p>
        </p:txBody>
      </p:sp>
    </p:spTree>
    <p:extLst>
      <p:ext uri="{BB962C8B-B14F-4D97-AF65-F5344CB8AC3E}">
        <p14:creationId xmlns:p14="http://schemas.microsoft.com/office/powerpoint/2010/main" val="7538887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42280-08E7-87AC-8E3A-B0FA8C4FC3DB}"/>
              </a:ext>
            </a:extLst>
          </p:cNvPr>
          <p:cNvSpPr>
            <a:spLocks noGrp="1"/>
          </p:cNvSpPr>
          <p:nvPr>
            <p:ph type="title"/>
          </p:nvPr>
        </p:nvSpPr>
        <p:spPr/>
        <p:txBody>
          <a:bodyPr/>
          <a:lstStyle/>
          <a:p>
            <a:r>
              <a:rPr lang="en-US" dirty="0"/>
              <a:t>Waterfall or Agile Approach</a:t>
            </a:r>
          </a:p>
        </p:txBody>
      </p:sp>
      <p:sp>
        <p:nvSpPr>
          <p:cNvPr id="4" name="Text Placeholder 3">
            <a:extLst>
              <a:ext uri="{FF2B5EF4-FFF2-40B4-BE49-F238E27FC236}">
                <a16:creationId xmlns:a16="http://schemas.microsoft.com/office/drawing/2014/main" id="{8F95BCC8-40F6-355B-D5E6-F13A85FB48F6}"/>
              </a:ext>
            </a:extLst>
          </p:cNvPr>
          <p:cNvSpPr>
            <a:spLocks noGrp="1"/>
          </p:cNvSpPr>
          <p:nvPr>
            <p:ph type="body" idx="1"/>
          </p:nvPr>
        </p:nvSpPr>
        <p:spPr/>
        <p:txBody>
          <a:bodyPr/>
          <a:lstStyle/>
          <a:p>
            <a:r>
              <a:rPr lang="en-US" dirty="0"/>
              <a:t>Waterfall Approach</a:t>
            </a:r>
          </a:p>
        </p:txBody>
      </p:sp>
      <p:sp>
        <p:nvSpPr>
          <p:cNvPr id="3" name="Content Placeholder 2">
            <a:extLst>
              <a:ext uri="{FF2B5EF4-FFF2-40B4-BE49-F238E27FC236}">
                <a16:creationId xmlns:a16="http://schemas.microsoft.com/office/drawing/2014/main" id="{C94A6D4B-D949-89E2-6397-62127B51EE8A}"/>
              </a:ext>
            </a:extLst>
          </p:cNvPr>
          <p:cNvSpPr>
            <a:spLocks noGrp="1"/>
          </p:cNvSpPr>
          <p:nvPr>
            <p:ph sz="half" idx="2"/>
          </p:nvPr>
        </p:nvSpPr>
        <p:spPr/>
        <p:txBody>
          <a:bodyPr>
            <a:normAutofit lnSpcReduction="10000"/>
          </a:bodyPr>
          <a:lstStyle/>
          <a:p>
            <a:pPr>
              <a:buFont typeface="Wingdings" panose="05000000000000000000" pitchFamily="2" charset="2"/>
              <a:buChar char="§"/>
            </a:pPr>
            <a:r>
              <a:rPr lang="en-US" dirty="0"/>
              <a:t>Suits well-defined, straightforward projects</a:t>
            </a:r>
          </a:p>
          <a:p>
            <a:pPr>
              <a:buFont typeface="Wingdings" panose="05000000000000000000" pitchFamily="2" charset="2"/>
              <a:buChar char="§"/>
            </a:pPr>
            <a:r>
              <a:rPr lang="en-US" dirty="0"/>
              <a:t>Typically has less customer involvement until the end</a:t>
            </a:r>
          </a:p>
          <a:p>
            <a:pPr>
              <a:buFont typeface="Wingdings" panose="05000000000000000000" pitchFamily="2" charset="2"/>
              <a:buChar char="§"/>
            </a:pPr>
            <a:r>
              <a:rPr lang="en-US" dirty="0"/>
              <a:t>Less flexible for changes</a:t>
            </a:r>
          </a:p>
          <a:p>
            <a:pPr>
              <a:buFont typeface="Wingdings" panose="05000000000000000000" pitchFamily="2" charset="2"/>
              <a:buChar char="§"/>
            </a:pPr>
            <a:r>
              <a:rPr lang="en-US" dirty="0"/>
              <a:t>May not reveal risks until later stages</a:t>
            </a:r>
          </a:p>
          <a:p>
            <a:pPr>
              <a:buFont typeface="Wingdings" panose="05000000000000000000" pitchFamily="2" charset="2"/>
              <a:buChar char="§"/>
            </a:pPr>
            <a:r>
              <a:rPr lang="en-US" dirty="0"/>
              <a:t>More suitable when resources are limited and detailed planning is crucial</a:t>
            </a:r>
          </a:p>
          <a:p>
            <a:pPr>
              <a:buFont typeface="Wingdings" panose="05000000000000000000" pitchFamily="2" charset="2"/>
              <a:buChar char="§"/>
            </a:pPr>
            <a:endParaRPr lang="en-US" dirty="0"/>
          </a:p>
        </p:txBody>
      </p:sp>
      <p:sp>
        <p:nvSpPr>
          <p:cNvPr id="5" name="Text Placeholder 4">
            <a:extLst>
              <a:ext uri="{FF2B5EF4-FFF2-40B4-BE49-F238E27FC236}">
                <a16:creationId xmlns:a16="http://schemas.microsoft.com/office/drawing/2014/main" id="{6CF059F5-A2CF-9CBB-C29E-E47ED3F53251}"/>
              </a:ext>
            </a:extLst>
          </p:cNvPr>
          <p:cNvSpPr>
            <a:spLocks noGrp="1"/>
          </p:cNvSpPr>
          <p:nvPr>
            <p:ph type="body" sz="quarter" idx="3"/>
          </p:nvPr>
        </p:nvSpPr>
        <p:spPr/>
        <p:txBody>
          <a:bodyPr/>
          <a:lstStyle/>
          <a:p>
            <a:r>
              <a:rPr lang="en-US" dirty="0"/>
              <a:t>Agile Approach</a:t>
            </a:r>
          </a:p>
        </p:txBody>
      </p:sp>
      <p:sp>
        <p:nvSpPr>
          <p:cNvPr id="6" name="Content Placeholder 5">
            <a:extLst>
              <a:ext uri="{FF2B5EF4-FFF2-40B4-BE49-F238E27FC236}">
                <a16:creationId xmlns:a16="http://schemas.microsoft.com/office/drawing/2014/main" id="{D92483DD-D268-6C39-A203-797518155786}"/>
              </a:ext>
            </a:extLst>
          </p:cNvPr>
          <p:cNvSpPr>
            <a:spLocks noGrp="1"/>
          </p:cNvSpPr>
          <p:nvPr>
            <p:ph sz="quarter" idx="4"/>
          </p:nvPr>
        </p:nvSpPr>
        <p:spPr/>
        <p:txBody>
          <a:bodyPr>
            <a:normAutofit lnSpcReduction="10000"/>
          </a:bodyPr>
          <a:lstStyle/>
          <a:p>
            <a:pPr>
              <a:buFont typeface="Wingdings" panose="05000000000000000000" pitchFamily="2" charset="2"/>
              <a:buChar char="§"/>
            </a:pPr>
            <a:r>
              <a:rPr lang="en-US" dirty="0"/>
              <a:t>Better for complex or evolving projects</a:t>
            </a:r>
          </a:p>
          <a:p>
            <a:pPr>
              <a:buFont typeface="Wingdings" panose="05000000000000000000" pitchFamily="2" charset="2"/>
              <a:buChar char="§"/>
            </a:pPr>
            <a:r>
              <a:rPr lang="en-US" dirty="0"/>
              <a:t>Encourages regular customer feedback</a:t>
            </a:r>
          </a:p>
          <a:p>
            <a:pPr>
              <a:buFont typeface="Wingdings" panose="05000000000000000000" pitchFamily="2" charset="2"/>
              <a:buChar char="§"/>
            </a:pPr>
            <a:r>
              <a:rPr lang="en-US" dirty="0"/>
              <a:t>Highly adaptable to changing requirements</a:t>
            </a:r>
          </a:p>
          <a:p>
            <a:pPr>
              <a:buFont typeface="Wingdings" panose="05000000000000000000" pitchFamily="2" charset="2"/>
              <a:buChar char="§"/>
            </a:pPr>
            <a:r>
              <a:rPr lang="en-US" dirty="0"/>
              <a:t>Allows to identify and mitigate risks early</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7335005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ADF228AF-822F-4819-9EB8-406258D6BB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4" name="Rectangle 23">
              <a:extLst>
                <a:ext uri="{FF2B5EF4-FFF2-40B4-BE49-F238E27FC236}">
                  <a16:creationId xmlns:a16="http://schemas.microsoft.com/office/drawing/2014/main" id="{38D7DDBD-CAAB-4AE7-930D-FCE007CBD5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Oval 24">
              <a:extLst>
                <a:ext uri="{FF2B5EF4-FFF2-40B4-BE49-F238E27FC236}">
                  <a16:creationId xmlns:a16="http://schemas.microsoft.com/office/drawing/2014/main" id="{1DFEF9B7-500D-44A2-952F-C322F13C98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Oval 25">
              <a:extLst>
                <a:ext uri="{FF2B5EF4-FFF2-40B4-BE49-F238E27FC236}">
                  <a16:creationId xmlns:a16="http://schemas.microsoft.com/office/drawing/2014/main" id="{C4137BE8-DA41-4563-A6DE-A5D80DE6E7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Oval 26">
              <a:extLst>
                <a:ext uri="{FF2B5EF4-FFF2-40B4-BE49-F238E27FC236}">
                  <a16:creationId xmlns:a16="http://schemas.microsoft.com/office/drawing/2014/main" id="{D8D380D3-7714-4E3F-8BA2-66B22BFD4D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Oval 27">
              <a:extLst>
                <a:ext uri="{FF2B5EF4-FFF2-40B4-BE49-F238E27FC236}">
                  <a16:creationId xmlns:a16="http://schemas.microsoft.com/office/drawing/2014/main" id="{4ECA7627-07BD-4F00-90E9-C6BB2199E3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Oval 28">
              <a:extLst>
                <a:ext uri="{FF2B5EF4-FFF2-40B4-BE49-F238E27FC236}">
                  <a16:creationId xmlns:a16="http://schemas.microsoft.com/office/drawing/2014/main" id="{261968C9-1992-4391-8E5B-1F358BB645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8983D8-1DA4-4D97-A8B5-59825C0E45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31" name="Freeform 5">
              <a:extLst>
                <a:ext uri="{FF2B5EF4-FFF2-40B4-BE49-F238E27FC236}">
                  <a16:creationId xmlns:a16="http://schemas.microsoft.com/office/drawing/2014/main" id="{009B6231-043B-4F66-BCC4-813B76F77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32" name="Freeform 5">
              <a:extLst>
                <a:ext uri="{FF2B5EF4-FFF2-40B4-BE49-F238E27FC236}">
                  <a16:creationId xmlns:a16="http://schemas.microsoft.com/office/drawing/2014/main" id="{36B7E87D-14CF-4349-AC4D-69DF5D84EB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34" name="Rectangle 33">
            <a:extLst>
              <a:ext uri="{FF2B5EF4-FFF2-40B4-BE49-F238E27FC236}">
                <a16:creationId xmlns:a16="http://schemas.microsoft.com/office/drawing/2014/main" id="{4EB623E5-BC7C-4763-B7CD-C7D5F91F12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35">
            <a:extLst>
              <a:ext uri="{FF2B5EF4-FFF2-40B4-BE49-F238E27FC236}">
                <a16:creationId xmlns:a16="http://schemas.microsoft.com/office/drawing/2014/main" id="{D1DE3271-DD99-4DEF-AF9F-84397884C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38" name="Freeform: Shape 37">
            <a:extLst>
              <a:ext uri="{FF2B5EF4-FFF2-40B4-BE49-F238E27FC236}">
                <a16:creationId xmlns:a16="http://schemas.microsoft.com/office/drawing/2014/main" id="{E06A31CE-F9B6-4BA2-8685-60F3524D0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40" name="Freeform 5">
            <a:extLst>
              <a:ext uri="{FF2B5EF4-FFF2-40B4-BE49-F238E27FC236}">
                <a16:creationId xmlns:a16="http://schemas.microsoft.com/office/drawing/2014/main" id="{8ADF14A3-1454-4B74-8B4A-CB197D7A79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
        <p:nvSpPr>
          <p:cNvPr id="42" name="Freeform 5">
            <a:extLst>
              <a:ext uri="{FF2B5EF4-FFF2-40B4-BE49-F238E27FC236}">
                <a16:creationId xmlns:a16="http://schemas.microsoft.com/office/drawing/2014/main" id="{EC19D556-0251-4E87-AE24-890965BAD5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44" name="Rectangle 43">
            <a:extLst>
              <a:ext uri="{FF2B5EF4-FFF2-40B4-BE49-F238E27FC236}">
                <a16:creationId xmlns:a16="http://schemas.microsoft.com/office/drawing/2014/main" id="{CBC3C8C6-98E2-45EF-AEFC-30C0DBA0E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descr="Applying the Agile Methodology to the Modern Workplace">
            <a:extLst>
              <a:ext uri="{FF2B5EF4-FFF2-40B4-BE49-F238E27FC236}">
                <a16:creationId xmlns:a16="http://schemas.microsoft.com/office/drawing/2014/main" id="{39F5D840-5852-22EA-3729-5E19DF48D2DB}"/>
              </a:ext>
            </a:extLst>
          </p:cNvPr>
          <p:cNvPicPr>
            <a:picLocks noChangeAspect="1"/>
          </p:cNvPicPr>
          <p:nvPr/>
        </p:nvPicPr>
        <p:blipFill>
          <a:blip r:embed="rId3"/>
          <a:stretch>
            <a:fillRect/>
          </a:stretch>
        </p:blipFill>
        <p:spPr>
          <a:xfrm>
            <a:off x="712637" y="512412"/>
            <a:ext cx="5100374" cy="2868961"/>
          </a:xfrm>
          <a:prstGeom prst="rect">
            <a:avLst/>
          </a:prstGeom>
        </p:spPr>
      </p:pic>
      <p:pic>
        <p:nvPicPr>
          <p:cNvPr id="18" name="Picture 17">
            <a:extLst>
              <a:ext uri="{FF2B5EF4-FFF2-40B4-BE49-F238E27FC236}">
                <a16:creationId xmlns:a16="http://schemas.microsoft.com/office/drawing/2014/main" id="{E89FDFD8-6448-2D8C-FC8F-6408D0C483F6}"/>
              </a:ext>
            </a:extLst>
          </p:cNvPr>
          <p:cNvPicPr>
            <a:picLocks noChangeAspect="1"/>
          </p:cNvPicPr>
          <p:nvPr/>
        </p:nvPicPr>
        <p:blipFill>
          <a:blip r:embed="rId4"/>
          <a:stretch>
            <a:fillRect/>
          </a:stretch>
        </p:blipFill>
        <p:spPr>
          <a:xfrm>
            <a:off x="1273308" y="3400485"/>
            <a:ext cx="4085970" cy="2952114"/>
          </a:xfrm>
          <a:prstGeom prst="rect">
            <a:avLst/>
          </a:prstGeom>
        </p:spPr>
      </p:pic>
      <p:sp>
        <p:nvSpPr>
          <p:cNvPr id="19" name="TextBox 18">
            <a:extLst>
              <a:ext uri="{FF2B5EF4-FFF2-40B4-BE49-F238E27FC236}">
                <a16:creationId xmlns:a16="http://schemas.microsoft.com/office/drawing/2014/main" id="{5F2278B3-57C2-9B94-0AAF-988B214F76A3}"/>
              </a:ext>
            </a:extLst>
          </p:cNvPr>
          <p:cNvSpPr txBox="1"/>
          <p:nvPr/>
        </p:nvSpPr>
        <p:spPr>
          <a:xfrm>
            <a:off x="6832305" y="1257298"/>
            <a:ext cx="3605507" cy="923330"/>
          </a:xfrm>
          <a:prstGeom prst="rect">
            <a:avLst/>
          </a:prstGeom>
          <a:noFill/>
        </p:spPr>
        <p:txBody>
          <a:bodyPr wrap="square" rtlCol="0">
            <a:spAutoFit/>
          </a:bodyPr>
          <a:lstStyle/>
          <a:p>
            <a:r>
              <a:rPr kumimoji="0" lang="en-US"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Phases are flexible, broken into small</a:t>
            </a:r>
            <a:r>
              <a:rPr lang="en-US" dirty="0">
                <a:solidFill>
                  <a:prstClr val="black">
                    <a:lumMod val="75000"/>
                    <a:lumOff val="25000"/>
                  </a:prstClr>
                </a:solidFill>
                <a:latin typeface="Century Gothic" panose="020B0502020202020204"/>
              </a:rPr>
              <a:t> cycles to continuously improve.</a:t>
            </a:r>
            <a:endParaRPr lang="en-US" dirty="0">
              <a:solidFill>
                <a:schemeClr val="bg1"/>
              </a:solidFill>
            </a:endParaRPr>
          </a:p>
        </p:txBody>
      </p:sp>
      <p:sp>
        <p:nvSpPr>
          <p:cNvPr id="20" name="TextBox 19">
            <a:extLst>
              <a:ext uri="{FF2B5EF4-FFF2-40B4-BE49-F238E27FC236}">
                <a16:creationId xmlns:a16="http://schemas.microsoft.com/office/drawing/2014/main" id="{7853E53D-8B15-C5CA-7E1C-5BECF8BAB68F}"/>
              </a:ext>
            </a:extLst>
          </p:cNvPr>
          <p:cNvSpPr txBox="1"/>
          <p:nvPr/>
        </p:nvSpPr>
        <p:spPr>
          <a:xfrm>
            <a:off x="6852812" y="3932375"/>
            <a:ext cx="3866492" cy="923330"/>
          </a:xfrm>
          <a:prstGeom prst="rect">
            <a:avLst/>
          </a:prstGeom>
          <a:noFill/>
        </p:spPr>
        <p:txBody>
          <a:bodyPr wrap="square" rtlCol="0">
            <a:spAutoFit/>
          </a:bodyPr>
          <a:lstStyle/>
          <a:p>
            <a:r>
              <a:rPr kumimoji="0" lang="en-US"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Phases </a:t>
            </a:r>
            <a:r>
              <a:rPr lang="en-US" dirty="0">
                <a:solidFill>
                  <a:prstClr val="black">
                    <a:lumMod val="75000"/>
                    <a:lumOff val="25000"/>
                  </a:prstClr>
                </a:solidFill>
                <a:latin typeface="Century Gothic" panose="020B0502020202020204"/>
              </a:rPr>
              <a:t>are done linearly in</a:t>
            </a:r>
            <a:r>
              <a:rPr kumimoji="0" lang="en-US"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order, must </a:t>
            </a:r>
            <a:r>
              <a:rPr lang="en-US" dirty="0">
                <a:solidFill>
                  <a:prstClr val="black">
                    <a:lumMod val="75000"/>
                    <a:lumOff val="25000"/>
                  </a:prstClr>
                </a:solidFill>
              </a:rPr>
              <a:t>be completed </a:t>
            </a:r>
            <a:r>
              <a:rPr lang="en-US" dirty="0">
                <a:solidFill>
                  <a:prstClr val="black">
                    <a:lumMod val="75000"/>
                    <a:lumOff val="25000"/>
                  </a:prstClr>
                </a:solidFill>
                <a:latin typeface="Century Gothic" panose="020B0502020202020204"/>
              </a:rPr>
              <a:t>before the next begins.</a:t>
            </a:r>
            <a:endParaRPr lang="en-US" dirty="0">
              <a:solidFill>
                <a:schemeClr val="bg1"/>
              </a:solidFill>
            </a:endParaRPr>
          </a:p>
        </p:txBody>
      </p:sp>
    </p:spTree>
    <p:extLst>
      <p:ext uri="{BB962C8B-B14F-4D97-AF65-F5344CB8AC3E}">
        <p14:creationId xmlns:p14="http://schemas.microsoft.com/office/powerpoint/2010/main" val="426378132"/>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7FE8E-B7FA-5357-0BBB-0F737A9B48D7}"/>
              </a:ext>
            </a:extLst>
          </p:cNvPr>
          <p:cNvSpPr>
            <a:spLocks noGrp="1"/>
          </p:cNvSpPr>
          <p:nvPr>
            <p:ph type="title"/>
          </p:nvPr>
        </p:nvSpPr>
        <p:spPr/>
        <p:txBody>
          <a:bodyPr/>
          <a:lstStyle/>
          <a:p>
            <a:r>
              <a:rPr lang="en-US" dirty="0"/>
              <a:t>Places Which Are Ideally For</a:t>
            </a:r>
          </a:p>
        </p:txBody>
      </p:sp>
      <p:sp>
        <p:nvSpPr>
          <p:cNvPr id="3" name="Text Placeholder 2">
            <a:extLst>
              <a:ext uri="{FF2B5EF4-FFF2-40B4-BE49-F238E27FC236}">
                <a16:creationId xmlns:a16="http://schemas.microsoft.com/office/drawing/2014/main" id="{AFE0D4AA-6798-1B1C-924F-A07E17697078}"/>
              </a:ext>
            </a:extLst>
          </p:cNvPr>
          <p:cNvSpPr>
            <a:spLocks noGrp="1"/>
          </p:cNvSpPr>
          <p:nvPr>
            <p:ph type="body" idx="1"/>
          </p:nvPr>
        </p:nvSpPr>
        <p:spPr/>
        <p:txBody>
          <a:bodyPr/>
          <a:lstStyle/>
          <a:p>
            <a:r>
              <a:rPr lang="en-US" dirty="0"/>
              <a:t>Waterfall examples</a:t>
            </a:r>
          </a:p>
        </p:txBody>
      </p:sp>
      <p:sp>
        <p:nvSpPr>
          <p:cNvPr id="4" name="Content Placeholder 3">
            <a:extLst>
              <a:ext uri="{FF2B5EF4-FFF2-40B4-BE49-F238E27FC236}">
                <a16:creationId xmlns:a16="http://schemas.microsoft.com/office/drawing/2014/main" id="{960B0EE8-B982-F52E-0DAD-BED06B1E6294}"/>
              </a:ext>
            </a:extLst>
          </p:cNvPr>
          <p:cNvSpPr>
            <a:spLocks noGrp="1"/>
          </p:cNvSpPr>
          <p:nvPr>
            <p:ph sz="half" idx="2"/>
          </p:nvPr>
        </p:nvSpPr>
        <p:spPr/>
        <p:txBody>
          <a:bodyPr/>
          <a:lstStyle/>
          <a:p>
            <a:r>
              <a:rPr lang="en-US" dirty="0"/>
              <a:t>Industries and business types at which compliance, safety, and precision are critical like:</a:t>
            </a:r>
          </a:p>
          <a:p>
            <a:r>
              <a:rPr lang="en-US" dirty="0"/>
              <a:t>Healthcare </a:t>
            </a:r>
          </a:p>
          <a:p>
            <a:r>
              <a:rPr lang="en-US" dirty="0"/>
              <a:t>Aerospace</a:t>
            </a:r>
          </a:p>
          <a:p>
            <a:r>
              <a:rPr lang="en-US" dirty="0"/>
              <a:t>Government</a:t>
            </a:r>
          </a:p>
          <a:p>
            <a:r>
              <a:rPr lang="en-US" dirty="0"/>
              <a:t>Manufacturing</a:t>
            </a:r>
          </a:p>
        </p:txBody>
      </p:sp>
      <p:sp>
        <p:nvSpPr>
          <p:cNvPr id="5" name="Text Placeholder 4">
            <a:extLst>
              <a:ext uri="{FF2B5EF4-FFF2-40B4-BE49-F238E27FC236}">
                <a16:creationId xmlns:a16="http://schemas.microsoft.com/office/drawing/2014/main" id="{0330BA9C-0FD3-02B0-71A3-DDA6D35F16A2}"/>
              </a:ext>
            </a:extLst>
          </p:cNvPr>
          <p:cNvSpPr>
            <a:spLocks noGrp="1"/>
          </p:cNvSpPr>
          <p:nvPr>
            <p:ph type="body" sz="quarter" idx="3"/>
          </p:nvPr>
        </p:nvSpPr>
        <p:spPr/>
        <p:txBody>
          <a:bodyPr/>
          <a:lstStyle/>
          <a:p>
            <a:r>
              <a:rPr lang="en-US" dirty="0"/>
              <a:t>Agile examples</a:t>
            </a:r>
          </a:p>
        </p:txBody>
      </p:sp>
      <p:sp>
        <p:nvSpPr>
          <p:cNvPr id="6" name="Content Placeholder 5">
            <a:extLst>
              <a:ext uri="{FF2B5EF4-FFF2-40B4-BE49-F238E27FC236}">
                <a16:creationId xmlns:a16="http://schemas.microsoft.com/office/drawing/2014/main" id="{87F84775-0679-CFAF-9BFF-8D04EFA52692}"/>
              </a:ext>
            </a:extLst>
          </p:cNvPr>
          <p:cNvSpPr>
            <a:spLocks noGrp="1"/>
          </p:cNvSpPr>
          <p:nvPr>
            <p:ph sz="quarter" idx="4"/>
          </p:nvPr>
        </p:nvSpPr>
        <p:spPr/>
        <p:txBody>
          <a:bodyPr/>
          <a:lstStyle/>
          <a:p>
            <a:r>
              <a:rPr lang="en-US" dirty="0"/>
              <a:t>Complex and dynamic projects in certain industries such as:</a:t>
            </a:r>
          </a:p>
          <a:p>
            <a:r>
              <a:rPr lang="en-US" dirty="0"/>
              <a:t>Marketing</a:t>
            </a:r>
          </a:p>
          <a:p>
            <a:r>
              <a:rPr lang="en-US" dirty="0"/>
              <a:t>Construction</a:t>
            </a:r>
          </a:p>
          <a:p>
            <a:r>
              <a:rPr lang="en-US" dirty="0"/>
              <a:t>Software Development</a:t>
            </a:r>
          </a:p>
          <a:p>
            <a:r>
              <a:rPr lang="en-US" dirty="0"/>
              <a:t>Media and entertainment</a:t>
            </a:r>
          </a:p>
          <a:p>
            <a:r>
              <a:rPr lang="en-US" dirty="0"/>
              <a:t>Finance</a:t>
            </a:r>
          </a:p>
        </p:txBody>
      </p:sp>
    </p:spTree>
    <p:extLst>
      <p:ext uri="{BB962C8B-B14F-4D97-AF65-F5344CB8AC3E}">
        <p14:creationId xmlns:p14="http://schemas.microsoft.com/office/powerpoint/2010/main" val="627639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FEA6F3D-D4EA-E2AF-91F9-F2AE3DE39A39}"/>
              </a:ext>
            </a:extLst>
          </p:cNvPr>
          <p:cNvSpPr>
            <a:spLocks noGrp="1"/>
          </p:cNvSpPr>
          <p:nvPr>
            <p:ph type="title"/>
          </p:nvPr>
        </p:nvSpPr>
        <p:spPr/>
        <p:txBody>
          <a:bodyPr/>
          <a:lstStyle/>
          <a:p>
            <a:r>
              <a:rPr lang="en-US" dirty="0"/>
              <a:t>Info to Include in the Approaches</a:t>
            </a:r>
          </a:p>
        </p:txBody>
      </p:sp>
      <p:sp>
        <p:nvSpPr>
          <p:cNvPr id="8" name="Text Placeholder 7">
            <a:extLst>
              <a:ext uri="{FF2B5EF4-FFF2-40B4-BE49-F238E27FC236}">
                <a16:creationId xmlns:a16="http://schemas.microsoft.com/office/drawing/2014/main" id="{5B27AA3D-658F-C536-FD44-28F9CFC04AB8}"/>
              </a:ext>
            </a:extLst>
          </p:cNvPr>
          <p:cNvSpPr>
            <a:spLocks noGrp="1"/>
          </p:cNvSpPr>
          <p:nvPr>
            <p:ph type="body" idx="1"/>
          </p:nvPr>
        </p:nvSpPr>
        <p:spPr/>
        <p:txBody>
          <a:bodyPr/>
          <a:lstStyle/>
          <a:p>
            <a:r>
              <a:rPr lang="en-US" sz="2600" dirty="0"/>
              <a:t>Secure coding </a:t>
            </a:r>
          </a:p>
        </p:txBody>
      </p:sp>
      <p:sp>
        <p:nvSpPr>
          <p:cNvPr id="11" name="Text Placeholder 10">
            <a:extLst>
              <a:ext uri="{FF2B5EF4-FFF2-40B4-BE49-F238E27FC236}">
                <a16:creationId xmlns:a16="http://schemas.microsoft.com/office/drawing/2014/main" id="{D26144BD-2920-677A-6086-8090A738247A}"/>
              </a:ext>
            </a:extLst>
          </p:cNvPr>
          <p:cNvSpPr>
            <a:spLocks noGrp="1"/>
          </p:cNvSpPr>
          <p:nvPr>
            <p:ph type="body" sz="half" idx="15"/>
          </p:nvPr>
        </p:nvSpPr>
        <p:spPr/>
        <p:txBody>
          <a:bodyPr>
            <a:normAutofit/>
          </a:bodyPr>
          <a:lstStyle/>
          <a:p>
            <a:r>
              <a:rPr lang="en-US" sz="1800" dirty="0"/>
              <a:t>For the execution phase in a software development lifecycle, it is always important to remember to have secure coding practices and security be implemented in coding.</a:t>
            </a:r>
          </a:p>
        </p:txBody>
      </p:sp>
      <p:sp>
        <p:nvSpPr>
          <p:cNvPr id="9" name="Text Placeholder 8">
            <a:extLst>
              <a:ext uri="{FF2B5EF4-FFF2-40B4-BE49-F238E27FC236}">
                <a16:creationId xmlns:a16="http://schemas.microsoft.com/office/drawing/2014/main" id="{B12C8DA3-1EA0-5C56-6695-FAE40FA96B85}"/>
              </a:ext>
            </a:extLst>
          </p:cNvPr>
          <p:cNvSpPr>
            <a:spLocks noGrp="1"/>
          </p:cNvSpPr>
          <p:nvPr>
            <p:ph type="body" sz="quarter" idx="3"/>
          </p:nvPr>
        </p:nvSpPr>
        <p:spPr/>
        <p:txBody>
          <a:bodyPr/>
          <a:lstStyle/>
          <a:p>
            <a:r>
              <a:rPr lang="en-US" sz="2600" dirty="0"/>
              <a:t>User needs</a:t>
            </a:r>
          </a:p>
        </p:txBody>
      </p:sp>
      <p:sp>
        <p:nvSpPr>
          <p:cNvPr id="12" name="Text Placeholder 11">
            <a:extLst>
              <a:ext uri="{FF2B5EF4-FFF2-40B4-BE49-F238E27FC236}">
                <a16:creationId xmlns:a16="http://schemas.microsoft.com/office/drawing/2014/main" id="{CFBE3D95-5920-FC14-AA92-92D8754726ED}"/>
              </a:ext>
            </a:extLst>
          </p:cNvPr>
          <p:cNvSpPr>
            <a:spLocks noGrp="1"/>
          </p:cNvSpPr>
          <p:nvPr>
            <p:ph type="body" sz="half" idx="16"/>
          </p:nvPr>
        </p:nvSpPr>
        <p:spPr/>
        <p:txBody>
          <a:bodyPr>
            <a:normAutofit/>
          </a:bodyPr>
          <a:lstStyle/>
          <a:p>
            <a:r>
              <a:rPr lang="en-US" sz="1800" dirty="0"/>
              <a:t>Implement user needs into the program by gathering information, prioritizing their needs and analyzing data. This clarifies what users want which helps the development team understand the values of features.</a:t>
            </a:r>
          </a:p>
        </p:txBody>
      </p:sp>
      <p:sp>
        <p:nvSpPr>
          <p:cNvPr id="10" name="Text Placeholder 9">
            <a:extLst>
              <a:ext uri="{FF2B5EF4-FFF2-40B4-BE49-F238E27FC236}">
                <a16:creationId xmlns:a16="http://schemas.microsoft.com/office/drawing/2014/main" id="{90CEC6AE-970E-4137-39DC-3C3F0DE643FB}"/>
              </a:ext>
            </a:extLst>
          </p:cNvPr>
          <p:cNvSpPr>
            <a:spLocks noGrp="1"/>
          </p:cNvSpPr>
          <p:nvPr>
            <p:ph type="body" sz="quarter" idx="13"/>
          </p:nvPr>
        </p:nvSpPr>
        <p:spPr/>
        <p:txBody>
          <a:bodyPr/>
          <a:lstStyle/>
          <a:p>
            <a:r>
              <a:rPr lang="en-US" sz="2600" dirty="0"/>
              <a:t>Summary</a:t>
            </a:r>
          </a:p>
        </p:txBody>
      </p:sp>
      <p:sp>
        <p:nvSpPr>
          <p:cNvPr id="13" name="Text Placeholder 12">
            <a:extLst>
              <a:ext uri="{FF2B5EF4-FFF2-40B4-BE49-F238E27FC236}">
                <a16:creationId xmlns:a16="http://schemas.microsoft.com/office/drawing/2014/main" id="{A1F115C0-6EAB-EF9D-7AE5-007AB4E5A8FE}"/>
              </a:ext>
            </a:extLst>
          </p:cNvPr>
          <p:cNvSpPr>
            <a:spLocks noGrp="1"/>
          </p:cNvSpPr>
          <p:nvPr>
            <p:ph type="body" sz="half" idx="17"/>
          </p:nvPr>
        </p:nvSpPr>
        <p:spPr/>
        <p:txBody>
          <a:bodyPr>
            <a:normAutofit/>
          </a:bodyPr>
          <a:lstStyle/>
          <a:p>
            <a:r>
              <a:rPr lang="en-US" sz="1800" dirty="0"/>
              <a:t>Agile methodologies, user involvements, and incremental development help approach developing programs.</a:t>
            </a:r>
          </a:p>
        </p:txBody>
      </p:sp>
    </p:spTree>
    <p:extLst>
      <p:ext uri="{BB962C8B-B14F-4D97-AF65-F5344CB8AC3E}">
        <p14:creationId xmlns:p14="http://schemas.microsoft.com/office/powerpoint/2010/main" val="3107382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E5D4A15D-C852-47D7-A7E3-7F8FEE9FCA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36" name="Rectangle 35">
              <a:extLst>
                <a:ext uri="{FF2B5EF4-FFF2-40B4-BE49-F238E27FC236}">
                  <a16:creationId xmlns:a16="http://schemas.microsoft.com/office/drawing/2014/main" id="{C06AA6A2-9E5B-46E6-82B0-8FC1CA7231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7" name="Oval 36">
              <a:extLst>
                <a:ext uri="{FF2B5EF4-FFF2-40B4-BE49-F238E27FC236}">
                  <a16:creationId xmlns:a16="http://schemas.microsoft.com/office/drawing/2014/main" id="{11E7C01A-5F5B-4E17-B91B-26FA9ADB54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Oval 37">
              <a:extLst>
                <a:ext uri="{FF2B5EF4-FFF2-40B4-BE49-F238E27FC236}">
                  <a16:creationId xmlns:a16="http://schemas.microsoft.com/office/drawing/2014/main" id="{71DA43BF-6FE1-458D-A112-1687677B00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Oval 38">
              <a:extLst>
                <a:ext uri="{FF2B5EF4-FFF2-40B4-BE49-F238E27FC236}">
                  <a16:creationId xmlns:a16="http://schemas.microsoft.com/office/drawing/2014/main" id="{FAA5FF03-83FF-43B9-B66B-5FD05A9589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Oval 39">
              <a:extLst>
                <a:ext uri="{FF2B5EF4-FFF2-40B4-BE49-F238E27FC236}">
                  <a16:creationId xmlns:a16="http://schemas.microsoft.com/office/drawing/2014/main" id="{BC4D7AA7-0424-4C72-AE55-4B413DD47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Oval 40">
              <a:extLst>
                <a:ext uri="{FF2B5EF4-FFF2-40B4-BE49-F238E27FC236}">
                  <a16:creationId xmlns:a16="http://schemas.microsoft.com/office/drawing/2014/main" id="{BC2D80F1-5DC4-4396-B0E1-C774E82EC7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Freeform 5">
              <a:extLst>
                <a:ext uri="{FF2B5EF4-FFF2-40B4-BE49-F238E27FC236}">
                  <a16:creationId xmlns:a16="http://schemas.microsoft.com/office/drawing/2014/main" id="{48171057-920A-4188-A18E-97D710A35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43" name="Freeform 5">
              <a:extLst>
                <a:ext uri="{FF2B5EF4-FFF2-40B4-BE49-F238E27FC236}">
                  <a16:creationId xmlns:a16="http://schemas.microsoft.com/office/drawing/2014/main" id="{1C871B74-1D69-47F0-A28D-8F3454779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44" name="Freeform 5">
              <a:extLst>
                <a:ext uri="{FF2B5EF4-FFF2-40B4-BE49-F238E27FC236}">
                  <a16:creationId xmlns:a16="http://schemas.microsoft.com/office/drawing/2014/main" id="{63001BDC-368C-49CC-9F3F-EAF38A0A49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45" name="Rectangle 44">
            <a:extLst>
              <a:ext uri="{FF2B5EF4-FFF2-40B4-BE49-F238E27FC236}">
                <a16:creationId xmlns:a16="http://schemas.microsoft.com/office/drawing/2014/main" id="{6288FC2F-B192-42B2-90BE-517E1039B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46" name="Group 45">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47" name="Rectangle 46">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8" name="Oval 47">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Oval 48">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Rectangle 49">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52"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53"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4" name="Title 3">
            <a:extLst>
              <a:ext uri="{FF2B5EF4-FFF2-40B4-BE49-F238E27FC236}">
                <a16:creationId xmlns:a16="http://schemas.microsoft.com/office/drawing/2014/main" id="{6547FEB7-B179-B720-A956-1094E4F525BD}"/>
              </a:ext>
            </a:extLst>
          </p:cNvPr>
          <p:cNvSpPr>
            <a:spLocks noGrp="1"/>
          </p:cNvSpPr>
          <p:nvPr>
            <p:ph type="title"/>
          </p:nvPr>
        </p:nvSpPr>
        <p:spPr>
          <a:xfrm>
            <a:off x="1154955" y="973667"/>
            <a:ext cx="2942210" cy="4833745"/>
          </a:xfrm>
        </p:spPr>
        <p:txBody>
          <a:bodyPr vert="horz" lIns="91440" tIns="45720" rIns="91440" bIns="45720" rtlCol="0" anchor="ctr">
            <a:normAutofit/>
          </a:bodyPr>
          <a:lstStyle/>
          <a:p>
            <a:r>
              <a:rPr lang="en-US" sz="3600">
                <a:solidFill>
                  <a:srgbClr val="EBEBEB"/>
                </a:solidFill>
              </a:rPr>
              <a:t>Sources</a:t>
            </a:r>
          </a:p>
        </p:txBody>
      </p:sp>
      <p:sp>
        <p:nvSpPr>
          <p:cNvPr id="54" name="Rectangle 53">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7" name="Text Placeholder 4">
            <a:extLst>
              <a:ext uri="{FF2B5EF4-FFF2-40B4-BE49-F238E27FC236}">
                <a16:creationId xmlns:a16="http://schemas.microsoft.com/office/drawing/2014/main" id="{8543B68A-3D72-128E-81B2-BDBCAE3AB7E2}"/>
              </a:ext>
            </a:extLst>
          </p:cNvPr>
          <p:cNvGraphicFramePr/>
          <p:nvPr>
            <p:extLst>
              <p:ext uri="{D42A27DB-BD31-4B8C-83A1-F6EECF244321}">
                <p14:modId xmlns:p14="http://schemas.microsoft.com/office/powerpoint/2010/main" val="1115669735"/>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286020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246</TotalTime>
  <Words>802</Words>
  <Application>Microsoft Office PowerPoint</Application>
  <PresentationFormat>Widescreen</PresentationFormat>
  <Paragraphs>75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Century Gothic</vt:lpstr>
      <vt:lpstr>Wingdings</vt:lpstr>
      <vt:lpstr>Wingdings 3</vt:lpstr>
      <vt:lpstr>Ion Boardroom</vt:lpstr>
      <vt:lpstr>Agile and Waterfall</vt:lpstr>
      <vt:lpstr>Agile Roles</vt:lpstr>
      <vt:lpstr>Agile Phases</vt:lpstr>
      <vt:lpstr>Waterfall Phases</vt:lpstr>
      <vt:lpstr>Waterfall Model</vt:lpstr>
      <vt:lpstr>Waterfall or Agile Approach</vt:lpstr>
      <vt:lpstr>PowerPoint Presentation</vt:lpstr>
      <vt:lpstr>Places Which Are Ideally For</vt:lpstr>
      <vt:lpstr>Info to Include in the Approaches</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Livingston, Anyssa</dc:creator>
  <cp:lastModifiedBy>Livingston, Anyssa</cp:lastModifiedBy>
  <cp:revision>9</cp:revision>
  <dcterms:created xsi:type="dcterms:W3CDTF">2025-02-24T03:45:03Z</dcterms:created>
  <dcterms:modified xsi:type="dcterms:W3CDTF">2026-05-31T20:21:45Z</dcterms:modified>
</cp:coreProperties>
</file>